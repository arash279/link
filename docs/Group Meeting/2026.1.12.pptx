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88" autoAdjust="0"/>
  </p:normalViewPr>
  <p:slideViewPr>
    <p:cSldViewPr snapToGrid="0">
      <p:cViewPr varScale="1">
        <p:scale>
          <a:sx n="100" d="100"/>
          <a:sy n="100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6D515-C5D7-4784-AB5E-9A3AE70EC646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SG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SG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71E8E-177E-4B11-8C25-DC1A9FD300B1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3273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SG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71E8E-177E-4B11-8C25-DC1A9FD300B1}" type="slidenum">
              <a:rPr lang="zh-SG" altLang="en-US" smtClean="0"/>
              <a:t>10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00935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58E2B-4DA2-BC27-6B2A-4F2949E81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046854-40E9-2B19-15CB-3FB969DF8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878EE8-E352-FB81-7CA3-A00A8141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CC77A9-36B3-9C36-99AF-4E3E9F329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4C65A0-CB04-0657-945D-47C522232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3312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7ABA3-6148-24EF-1496-16FD43F44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24C224-458F-B05F-1DE0-A47CED99D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3B5608-04AE-4316-3749-008BC1D80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C5C841-9CFB-AF70-13F1-AA81E2D8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EDEC0-03A8-ADD5-66A9-FA0DD009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47292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AC542-CA69-3AF7-324C-70B51E1C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667D43-71C0-84C8-1675-EB353CE23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BF6381-F027-626A-6D39-825F6FBA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3DD730-BC73-C445-557F-99AB810C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C5408-965D-3358-9C60-5FA5F065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6445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D77F2-672E-B06E-A713-5BB780CE8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41A698-E144-6A2C-B903-EE4A7D92C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6D7E27-1642-10AE-25EC-6EACFED75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86F7EB-B2F9-307B-DCAD-3C0E5D78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6293F8-B244-4A2F-03B3-2E9C0A15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ADBDB6-8265-1BEA-F549-9636B4390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72738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85822-1D67-F6C0-E71D-879E646DE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AF3142-F39B-7B87-D45C-5E989B5F4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512F89-4256-543B-C0B0-E76CF2E09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A0B549-BE84-57C1-B411-0409BFE08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CD92CA-FAF9-F541-EB75-8DB8EA8AF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B6C75B-1681-2F4D-0A34-F64690F29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01EF4B-9DBF-A2FB-67B5-7C49D8E3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637EC1-36FF-F0B5-4652-7F3255FD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413389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4E781-6DD9-3A3B-F85A-8F186DC9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646F2B-5C84-578C-68AB-0EDDB318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DBE2AD-C9C6-0A07-F711-F473EA57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8F4E4F-F725-D046-2F9F-C4C6E2AAF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36320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53C8AC-6D0A-152C-F23D-160AA376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1E092D-82A4-EB82-74F7-52E50B70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947814-2D17-5436-D006-2EC6A96E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471249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ED3DC-B079-4755-2B7B-DBB91803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FD7188-A3EC-2110-72E4-94F1F159F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4B65AF-F0BA-12D8-CEAC-A985A3653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7FE33A-D90F-4964-3836-EECABF9D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9A07BB-D9F6-7D3A-8B0A-702C12D0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9BD915-5EE9-BB35-D8E8-16EED49F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151380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DD04FA-ABDA-41D8-559B-98EAF8CA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8550B7-FE24-8BC8-55FD-829624528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4D077E-DEA8-31C0-04C5-C0F597D75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A6A13F-1E66-2BAB-3B2E-5A4CA3077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2D192D-451A-62B8-1ECE-85F5D419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A6F421-6EC7-A9F6-E633-CA9862D59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205203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09E53-49A3-A148-67EA-DC10B7937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B2C241-0002-79B2-D327-1692876BD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D881C0-E9D9-0816-BF19-ABB02B91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B1E55E-16B2-740F-46DC-F6704572A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43BC3F-0E56-B0D5-04D4-3898F702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505846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3645AC-3106-D0FF-F0EC-9569B136E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CF6857-B2B6-18A5-92A0-259AA92EB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13E7AB-16DB-B082-18A7-119AECF0D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8EEE11-9BEE-E19C-F4E9-8628E25A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87FB66-B9DC-DF73-3CBB-D93903F7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308534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1B3295-7E66-F55C-68FE-B7C76C0D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A1909B-D094-67BC-D04D-F74BABD8A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AF9AE3-8180-6ABA-E663-1A72CF8A1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EF2F8-53EC-4769-9195-35DFE429535D}" type="datetimeFigureOut">
              <a:rPr lang="zh-SG" altLang="en-US" smtClean="0"/>
              <a:t>27/1/2026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03BDED-D7B3-E8B1-17F9-CA1826634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57097E-8DCC-016A-0C94-668291A5F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E9298-DA7B-4BF9-94B8-3355A7DCF8F7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868860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4B52C1-D164-0A38-DD4D-DD0AD47062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SG" dirty="0"/>
              <a:t>GROUP MEETING</a:t>
            </a:r>
            <a:endParaRPr lang="zh-SG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ED80DD-C4DF-7992-DAD6-D163C34873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SG" dirty="0"/>
              <a:t>2026.1.12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4229054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BF7DF-E797-1F73-A030-1E76FD76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Recent Progress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DF449A-6E16-61E3-0AE8-44BF4D8CE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82100" cy="4351338"/>
          </a:xfrm>
        </p:spPr>
        <p:txBody>
          <a:bodyPr/>
          <a:lstStyle/>
          <a:p>
            <a:r>
              <a:rPr lang="en-US" altLang="zh-SG" b="1" dirty="0"/>
              <a:t>Key Points</a:t>
            </a:r>
            <a:endParaRPr lang="en-US" altLang="zh-SG" dirty="0"/>
          </a:p>
          <a:p>
            <a:r>
              <a:rPr lang="en-US" altLang="zh-SG" dirty="0"/>
              <a:t>Partial recovery of previously lost data</a:t>
            </a:r>
          </a:p>
          <a:p>
            <a:r>
              <a:rPr lang="en-US" altLang="zh-SG" dirty="0"/>
              <a:t>Some documentation missing, but </a:t>
            </a:r>
            <a:r>
              <a:rPr lang="en-US" altLang="zh-SG" b="1" dirty="0"/>
              <a:t>core scripts restored</a:t>
            </a:r>
            <a:endParaRPr lang="en-US" altLang="zh-SG" dirty="0"/>
          </a:p>
          <a:p>
            <a:r>
              <a:rPr lang="en-US" altLang="zh-SG" dirty="0"/>
              <a:t>Opportunity to </a:t>
            </a:r>
            <a:r>
              <a:rPr lang="en-US" altLang="zh-SG" b="1" dirty="0"/>
              <a:t>re-audit and correct legacy code</a:t>
            </a:r>
            <a:endParaRPr lang="en-US" altLang="zh-SG" dirty="0"/>
          </a:p>
          <a:p>
            <a:r>
              <a:rPr lang="en-US" altLang="zh-SG" dirty="0"/>
              <a:t>Model performance returned to previous baseline</a:t>
            </a:r>
          </a:p>
          <a:p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2861519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DD104-44A7-3CAE-B88B-540545A0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Fitting Strategy Update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40B5B1-FA90-983E-2645-7A591E30C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630" y="1825625"/>
            <a:ext cx="467696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zh-SG" b="1" dirty="0"/>
              <a:t>Current Approach</a:t>
            </a:r>
            <a:endParaRPr lang="en-US" altLang="zh-SG" dirty="0"/>
          </a:p>
          <a:p>
            <a:r>
              <a:rPr lang="en-US" altLang="zh-SG" dirty="0"/>
              <a:t>Nonlinear Least Squares (NLLS) fitting</a:t>
            </a:r>
          </a:p>
          <a:p>
            <a:r>
              <a:rPr lang="en-US" altLang="zh-SG" dirty="0"/>
              <a:t>Applied mainly in LF–MF range</a:t>
            </a:r>
          </a:p>
          <a:p>
            <a:r>
              <a:rPr lang="en-US" altLang="zh-SG" b="1" dirty="0"/>
              <a:t>Notes</a:t>
            </a:r>
            <a:endParaRPr lang="en-US" altLang="zh-SG" dirty="0"/>
          </a:p>
          <a:p>
            <a:r>
              <a:rPr lang="en-US" altLang="zh-SG" dirty="0"/>
              <a:t>Optimization space is still flexible:</a:t>
            </a:r>
          </a:p>
          <a:p>
            <a:pPr lvl="1"/>
            <a:r>
              <a:rPr lang="en-US" altLang="zh-SG" dirty="0"/>
              <a:t>Re-weighting residuals</a:t>
            </a:r>
          </a:p>
          <a:p>
            <a:pPr lvl="1"/>
            <a:r>
              <a:rPr lang="en-US" altLang="zh-SG" dirty="0"/>
              <a:t>Improved frequency sampling</a:t>
            </a:r>
          </a:p>
          <a:p>
            <a:r>
              <a:rPr lang="en-US" altLang="zh-SG" dirty="0"/>
              <a:t>Advanced methods (e.g. NN-based fitting) postponed intentionally</a:t>
            </a:r>
          </a:p>
          <a:p>
            <a:endParaRPr lang="zh-SG" altLang="en-US" dirty="0"/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0142D138-F623-61DB-6F4D-6CBD05D21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598" y="1601294"/>
            <a:ext cx="7200000" cy="4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75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D5755-CD79-C11A-4A67-06C75D0B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Status of Paper Replication</a:t>
            </a:r>
            <a:endParaRPr lang="zh-SG" altLang="en-US" dirty="0"/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E04DA218-5E7D-DA29-5AB2-0D423804F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598" y="1601293"/>
            <a:ext cx="7199999" cy="4799999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3EDA9CF-0643-359D-CAF2-3A951710E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630" y="1825625"/>
            <a:ext cx="4676968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zh-SG" b="1" dirty="0"/>
              <a:t>Replication Result</a:t>
            </a:r>
            <a:endParaRPr lang="en-US" altLang="zh-SG" dirty="0"/>
          </a:p>
          <a:p>
            <a:r>
              <a:rPr lang="en-US" altLang="zh-SG" dirty="0"/>
              <a:t>Core analytical model: successfully reproduced</a:t>
            </a:r>
          </a:p>
          <a:p>
            <a:r>
              <a:rPr lang="en-US" altLang="zh-SG" dirty="0"/>
              <a:t>Parameters match literature values reasonably well</a:t>
            </a:r>
          </a:p>
          <a:p>
            <a:r>
              <a:rPr lang="en-US" altLang="zh-SG" b="1" dirty="0"/>
              <a:t>Important Limitation</a:t>
            </a:r>
            <a:endParaRPr lang="en-US" altLang="zh-SG" dirty="0"/>
          </a:p>
          <a:p>
            <a:r>
              <a:rPr lang="en-US" altLang="zh-SG" dirty="0"/>
              <a:t>Ultra-high-frequency region (10⁷–10⁸ Hz): Outside current model validity</a:t>
            </a:r>
          </a:p>
          <a:p>
            <a:r>
              <a:rPr lang="en-US" altLang="zh-SG" b="1" dirty="0"/>
              <a:t>Conclusion</a:t>
            </a:r>
            <a:endParaRPr lang="en-US" altLang="zh-SG" dirty="0"/>
          </a:p>
          <a:p>
            <a:r>
              <a:rPr lang="en-US" altLang="zh-SG" dirty="0"/>
              <a:t>Below UHF range → fitting quality is very good</a:t>
            </a:r>
          </a:p>
          <a:p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776638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0A1FF-2AEA-B478-6E05-FC6B81CC7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22668" cy="1325563"/>
          </a:xfrm>
        </p:spPr>
        <p:txBody>
          <a:bodyPr>
            <a:normAutofit/>
          </a:bodyPr>
          <a:lstStyle/>
          <a:p>
            <a:r>
              <a:rPr lang="en-US" altLang="zh-SG" dirty="0"/>
              <a:t>Extraction of Stator Series Leakage Inductance (</a:t>
            </a:r>
            <a:r>
              <a:rPr lang="en-US" altLang="zh-SG" dirty="0" err="1"/>
              <a:t>Lls</a:t>
            </a:r>
            <a:r>
              <a:rPr lang="en-US" altLang="zh-SG" dirty="0"/>
              <a:t>)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4ECFE6-9453-BABA-D86D-47CBAFD64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979" y="1870322"/>
            <a:ext cx="4689021" cy="4351338"/>
          </a:xfrm>
        </p:spPr>
        <p:txBody>
          <a:bodyPr>
            <a:normAutofit lnSpcReduction="10000"/>
          </a:bodyPr>
          <a:lstStyle/>
          <a:p>
            <a:r>
              <a:rPr lang="en-US" altLang="zh-SG" b="1" dirty="0"/>
              <a:t>Method Used</a:t>
            </a:r>
            <a:endParaRPr lang="en-US" altLang="zh-SG" dirty="0"/>
          </a:p>
          <a:p>
            <a:r>
              <a:rPr lang="en-US" altLang="zh-SG" dirty="0"/>
              <a:t>Work in mid-frequency range</a:t>
            </a:r>
          </a:p>
          <a:p>
            <a:r>
              <a:rPr lang="en-US" altLang="zh-SG" dirty="0"/>
              <a:t>Identify a reliable inductive plateau</a:t>
            </a:r>
          </a:p>
          <a:p>
            <a:r>
              <a:rPr lang="en-US" altLang="zh-SG" dirty="0"/>
              <a:t>Convert measured port inductance → total leakage inductance L</a:t>
            </a:r>
            <a:r>
              <a:rPr lang="el-GR" altLang="zh-SG" dirty="0"/>
              <a:t>σ</a:t>
            </a:r>
          </a:p>
          <a:p>
            <a:r>
              <a:rPr lang="en-US" altLang="zh-SG" b="1" dirty="0"/>
              <a:t>Assumption from the paper: </a:t>
            </a:r>
            <a:r>
              <a:rPr lang="en-US" altLang="zh-SG" dirty="0"/>
              <a:t>Leakage equally shared, </a:t>
            </a:r>
            <a:r>
              <a:rPr lang="en-US" altLang="zh-SG" b="1" dirty="0" err="1"/>
              <a:t>Lls</a:t>
            </a:r>
            <a:r>
              <a:rPr lang="en-US" altLang="zh-SG" b="1" dirty="0"/>
              <a:t> = </a:t>
            </a:r>
            <a:r>
              <a:rPr lang="en-US" altLang="zh-SG" b="1" dirty="0" err="1"/>
              <a:t>Llr</a:t>
            </a:r>
            <a:r>
              <a:rPr lang="en-US" altLang="zh-SG" b="1" dirty="0"/>
              <a:t> = 0.5 · L</a:t>
            </a:r>
            <a:r>
              <a:rPr lang="el-GR" altLang="zh-SG" b="1" dirty="0"/>
              <a:t>σ</a:t>
            </a:r>
            <a:endParaRPr lang="el-GR" altLang="zh-SG" dirty="0"/>
          </a:p>
          <a:p>
            <a:endParaRPr lang="en-US" altLang="zh-SG" dirty="0"/>
          </a:p>
          <a:p>
            <a:endParaRPr lang="en-US" altLang="zh-SG" dirty="0"/>
          </a:p>
          <a:p>
            <a:endParaRPr lang="zh-SG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939E80-5125-BA89-7E73-D82D0CA87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358" y="1645991"/>
            <a:ext cx="7200000" cy="4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58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A909-FEBC-078F-8844-12998F04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FB525-AE9C-A950-1BD9-74FF0B30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22668" cy="1325563"/>
          </a:xfrm>
        </p:spPr>
        <p:txBody>
          <a:bodyPr>
            <a:normAutofit/>
          </a:bodyPr>
          <a:lstStyle/>
          <a:p>
            <a:r>
              <a:rPr lang="en-US" altLang="zh-SG" dirty="0"/>
              <a:t>Extraction of Stator Series Leakage Inductance (</a:t>
            </a:r>
            <a:r>
              <a:rPr lang="en-US" altLang="zh-SG" dirty="0" err="1"/>
              <a:t>Lls</a:t>
            </a:r>
            <a:r>
              <a:rPr lang="en-US" altLang="zh-SG" dirty="0"/>
              <a:t>)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6EDEFE-F333-89FB-3B8A-BFAEDD595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979" y="1870322"/>
            <a:ext cx="11429100" cy="4351338"/>
          </a:xfrm>
        </p:spPr>
        <p:txBody>
          <a:bodyPr>
            <a:normAutofit/>
          </a:bodyPr>
          <a:lstStyle/>
          <a:p>
            <a:r>
              <a:rPr lang="en-US" altLang="zh-SG" b="1" dirty="0"/>
              <a:t>Consistency Check</a:t>
            </a:r>
            <a:endParaRPr lang="en-US" altLang="zh-SG" dirty="0"/>
          </a:p>
          <a:p>
            <a:r>
              <a:rPr lang="en-US" altLang="zh-SG" dirty="0"/>
              <a:t>Ratio:</a:t>
            </a:r>
          </a:p>
          <a:p>
            <a:pPr lvl="1"/>
            <a:r>
              <a:rPr lang="en-US" altLang="zh-SG" dirty="0" err="1"/>
              <a:t>Leq_Y</a:t>
            </a:r>
            <a:r>
              <a:rPr lang="en-US" altLang="zh-SG" dirty="0"/>
              <a:t> / </a:t>
            </a:r>
            <a:r>
              <a:rPr lang="en-US" altLang="zh-SG" dirty="0" err="1"/>
              <a:t>Leq_Δ</a:t>
            </a:r>
            <a:r>
              <a:rPr lang="en-US" altLang="zh-SG" dirty="0"/>
              <a:t> ≈ 3.188</a:t>
            </a:r>
          </a:p>
          <a:p>
            <a:pPr lvl="1"/>
            <a:r>
              <a:rPr lang="en-US" altLang="zh-SG" dirty="0"/>
              <a:t>Expected theoretical range: 3.0 – 3.3 (Conclusion from the paper)</a:t>
            </a:r>
          </a:p>
          <a:p>
            <a:r>
              <a:rPr lang="en-US" altLang="zh-SG" b="1" dirty="0"/>
              <a:t>Final Value</a:t>
            </a:r>
            <a:r>
              <a:rPr lang="en-US" altLang="zh-SG" dirty="0"/>
              <a:t>: </a:t>
            </a:r>
            <a:r>
              <a:rPr lang="en-US" altLang="zh-SG" b="1" dirty="0" err="1"/>
              <a:t>Lls</a:t>
            </a:r>
            <a:r>
              <a:rPr lang="en-US" altLang="zh-SG" b="1" dirty="0"/>
              <a:t> = </a:t>
            </a:r>
            <a:r>
              <a:rPr lang="en-US" altLang="zh-SG" b="1" dirty="0" err="1"/>
              <a:t>Llr</a:t>
            </a:r>
            <a:r>
              <a:rPr lang="en-US" altLang="zh-SG" b="1" dirty="0"/>
              <a:t> = 2.55 × 10⁻² H</a:t>
            </a:r>
            <a:endParaRPr lang="en-US" altLang="zh-SG" dirty="0"/>
          </a:p>
          <a:p>
            <a:r>
              <a:rPr lang="en-US" altLang="zh-SG" b="1" dirty="0"/>
              <a:t>Conclusion</a:t>
            </a:r>
            <a:endParaRPr lang="en-US" altLang="zh-SG" dirty="0"/>
          </a:p>
          <a:p>
            <a:r>
              <a:rPr lang="en-US" altLang="zh-SG" dirty="0"/>
              <a:t>Low-frequency leakage inductance extraction is reliable</a:t>
            </a:r>
          </a:p>
          <a:p>
            <a:endParaRPr lang="en-US" altLang="zh-SG" dirty="0"/>
          </a:p>
          <a:p>
            <a:endParaRPr lang="en-US" altLang="zh-SG" dirty="0"/>
          </a:p>
          <a:p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851345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2C7FD-398F-D5DB-C57C-E2F27348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40CF6-D547-2C9C-FC89-8F00C18F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22668" cy="1325563"/>
          </a:xfrm>
        </p:spPr>
        <p:txBody>
          <a:bodyPr>
            <a:normAutofit/>
          </a:bodyPr>
          <a:lstStyle/>
          <a:p>
            <a:r>
              <a:rPr lang="en-US" altLang="zh-SG" dirty="0"/>
              <a:t>Computing </a:t>
            </a:r>
            <a:r>
              <a:rPr lang="el-GR" altLang="zh-SG" dirty="0"/>
              <a:t>η</a:t>
            </a:r>
            <a:r>
              <a:rPr lang="en-US" altLang="zh-SG" dirty="0" err="1"/>
              <a:t>Lls</a:t>
            </a:r>
            <a:r>
              <a:rPr lang="en-US" altLang="zh-SG" dirty="0"/>
              <a:t>, Stator first turn leakage inductance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47B09F-2A4D-EC27-AA19-C183FECD9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979" y="1870322"/>
            <a:ext cx="4607379" cy="4351338"/>
          </a:xfrm>
        </p:spPr>
        <p:txBody>
          <a:bodyPr>
            <a:normAutofit/>
          </a:bodyPr>
          <a:lstStyle/>
          <a:p>
            <a:r>
              <a:rPr lang="en-US" altLang="zh-SG" b="1" dirty="0" err="1"/>
              <a:t>ηLls</a:t>
            </a:r>
            <a:r>
              <a:rPr lang="en-US" altLang="zh-SG" b="1" dirty="0"/>
              <a:t> represents:</a:t>
            </a:r>
          </a:p>
          <a:p>
            <a:pPr lvl="1"/>
            <a:r>
              <a:rPr lang="en-US" altLang="zh-SG" dirty="0"/>
              <a:t>Small fraction of stator leakage</a:t>
            </a:r>
          </a:p>
          <a:p>
            <a:pPr lvl="1"/>
            <a:r>
              <a:rPr lang="en-US" altLang="zh-SG" dirty="0"/>
              <a:t>Located near terminals</a:t>
            </a:r>
          </a:p>
          <a:p>
            <a:r>
              <a:rPr lang="en-US" altLang="zh-SG" b="1" dirty="0"/>
              <a:t>Step 1 — Estimating </a:t>
            </a:r>
            <a:r>
              <a:rPr lang="en-US" altLang="zh-SG" b="1" dirty="0" err="1"/>
              <a:t>Csf</a:t>
            </a:r>
            <a:endParaRPr lang="en-US" altLang="zh-SG" b="1" dirty="0"/>
          </a:p>
          <a:p>
            <a:r>
              <a:rPr lang="en-US" altLang="zh-SG" dirty="0"/>
              <a:t>Sweep impedance vs frequency</a:t>
            </a:r>
          </a:p>
          <a:p>
            <a:r>
              <a:rPr lang="en-US" altLang="zh-SG" dirty="0"/>
              <a:t>Identify capacitive plateaus:</a:t>
            </a:r>
          </a:p>
          <a:p>
            <a:pPr lvl="1"/>
            <a:r>
              <a:rPr lang="en-US" altLang="zh-SG" dirty="0"/>
              <a:t>Before first resonance (LF)</a:t>
            </a:r>
          </a:p>
          <a:p>
            <a:pPr lvl="1"/>
            <a:r>
              <a:rPr lang="en-US" altLang="zh-SG" dirty="0"/>
              <a:t>After first resonance (HF)</a:t>
            </a:r>
          </a:p>
          <a:p>
            <a:pPr lvl="1"/>
            <a:endParaRPr lang="en-US" altLang="zh-SG" dirty="0"/>
          </a:p>
          <a:p>
            <a:endParaRPr lang="en-US" altLang="zh-SG" dirty="0"/>
          </a:p>
          <a:p>
            <a:endParaRPr lang="en-US" altLang="zh-SG" dirty="0"/>
          </a:p>
          <a:p>
            <a:endParaRPr lang="zh-SG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D5F433-2CCC-0402-3647-D5A2CD8D2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358" y="1690688"/>
            <a:ext cx="720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40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99E12-19F0-DEE7-FE13-FCAF352C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Computing </a:t>
            </a:r>
            <a:r>
              <a:rPr lang="el-GR" altLang="zh-SG" dirty="0"/>
              <a:t>η</a:t>
            </a:r>
            <a:r>
              <a:rPr lang="en-US" altLang="zh-SG" dirty="0" err="1"/>
              <a:t>Lls</a:t>
            </a:r>
            <a:r>
              <a:rPr lang="en-US" altLang="zh-SG" dirty="0"/>
              <a:t>, Stator first turn leakage inductance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9722EE-9A97-3367-A069-5134956CA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794" y="1690688"/>
            <a:ext cx="5143500" cy="4351338"/>
          </a:xfrm>
        </p:spPr>
        <p:txBody>
          <a:bodyPr>
            <a:normAutofit/>
          </a:bodyPr>
          <a:lstStyle/>
          <a:p>
            <a:r>
              <a:rPr lang="en-US" altLang="zh-SG" b="1" dirty="0"/>
              <a:t>Cross-Validation</a:t>
            </a:r>
            <a:endParaRPr lang="en-US" altLang="zh-SG" dirty="0"/>
          </a:p>
          <a:p>
            <a:r>
              <a:rPr lang="en-US" altLang="zh-SG" dirty="0"/>
              <a:t>Single-phase vs Δ-connection</a:t>
            </a:r>
          </a:p>
          <a:p>
            <a:r>
              <a:rPr lang="en-US" altLang="zh-SG" dirty="0"/>
              <a:t>Parallel and series combinations</a:t>
            </a:r>
          </a:p>
          <a:p>
            <a:r>
              <a:rPr lang="en-US" altLang="zh-SG" b="1" dirty="0"/>
              <a:t>Observed Ratios</a:t>
            </a:r>
            <a:endParaRPr lang="en-US" altLang="zh-SG" dirty="0"/>
          </a:p>
          <a:p>
            <a:r>
              <a:rPr lang="en-US" altLang="zh-SG" dirty="0"/>
              <a:t>Δ / (2 × #13) ≈ 0.85</a:t>
            </a:r>
          </a:p>
          <a:p>
            <a:r>
              <a:rPr lang="en-US" altLang="zh-SG" dirty="0"/>
              <a:t>Δ / (6 × single-phase) ≈ 0.88</a:t>
            </a:r>
          </a:p>
          <a:p>
            <a:r>
              <a:rPr lang="en-US" altLang="zh-SG" b="1" dirty="0"/>
              <a:t>Conclusion</a:t>
            </a:r>
            <a:endParaRPr lang="en-US" altLang="zh-SG" dirty="0"/>
          </a:p>
          <a:p>
            <a:r>
              <a:rPr lang="en-US" altLang="zh-SG" dirty="0"/>
              <a:t>Consistency acceptable</a:t>
            </a:r>
          </a:p>
          <a:p>
            <a:endParaRPr lang="zh-SG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EA33504-CB29-3912-2F62-CCCB77077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916529"/>
              </p:ext>
            </p:extLst>
          </p:nvPr>
        </p:nvGraphicFramePr>
        <p:xfrm>
          <a:off x="838200" y="2557146"/>
          <a:ext cx="3162300" cy="261842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393686349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335216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84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Csf_HF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2.461 × 10⁻¹⁰ 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790853"/>
                  </a:ext>
                </a:extLst>
              </a:tr>
              <a:tr h="133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Csf_LF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1.516 × 10⁻⁹ 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494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619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FF51-8DEA-F7BF-2DAB-A828742C8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FA011-4AD7-794B-84A2-A0D0D08F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Computing </a:t>
            </a:r>
            <a:r>
              <a:rPr lang="el-GR" altLang="zh-SG" dirty="0"/>
              <a:t>η</a:t>
            </a:r>
            <a:r>
              <a:rPr lang="en-US" altLang="zh-SG" dirty="0" err="1"/>
              <a:t>Lls</a:t>
            </a:r>
            <a:r>
              <a:rPr lang="en-US" altLang="zh-SG" dirty="0"/>
              <a:t>, Stator first turn leakage inductance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735CBB-13E4-87E2-F723-067C3FD2B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4087" y="1690688"/>
            <a:ext cx="5143500" cy="4351338"/>
          </a:xfrm>
        </p:spPr>
        <p:txBody>
          <a:bodyPr>
            <a:normAutofit/>
          </a:bodyPr>
          <a:lstStyle/>
          <a:p>
            <a:r>
              <a:rPr lang="en-US" altLang="zh-SG" b="1" dirty="0"/>
              <a:t>Cross-Validation</a:t>
            </a:r>
            <a:endParaRPr lang="en-US" altLang="zh-SG" dirty="0"/>
          </a:p>
          <a:p>
            <a:r>
              <a:rPr lang="en-US" altLang="zh-SG" dirty="0"/>
              <a:t>Single-phase vs Δ-connection</a:t>
            </a:r>
          </a:p>
          <a:p>
            <a:r>
              <a:rPr lang="en-US" altLang="zh-SG" dirty="0"/>
              <a:t>Parallel and series combinations</a:t>
            </a:r>
          </a:p>
          <a:p>
            <a:r>
              <a:rPr lang="en-US" altLang="zh-SG" b="1" dirty="0"/>
              <a:t>Observed Ratios</a:t>
            </a:r>
            <a:endParaRPr lang="en-US" altLang="zh-SG" dirty="0"/>
          </a:p>
          <a:p>
            <a:r>
              <a:rPr lang="en-US" altLang="zh-SG" dirty="0"/>
              <a:t>Δ / (2 × #13) ≈ 0.85</a:t>
            </a:r>
          </a:p>
          <a:p>
            <a:r>
              <a:rPr lang="en-US" altLang="zh-SG" dirty="0"/>
              <a:t>Δ / (6 × single-phase) ≈ 0.88</a:t>
            </a:r>
          </a:p>
          <a:p>
            <a:r>
              <a:rPr lang="en-US" altLang="zh-SG" b="1" dirty="0"/>
              <a:t>Conclusion</a:t>
            </a:r>
            <a:endParaRPr lang="en-US" altLang="zh-SG" dirty="0"/>
          </a:p>
          <a:p>
            <a:r>
              <a:rPr lang="en-US" altLang="zh-SG" dirty="0"/>
              <a:t>Consistency acceptable</a:t>
            </a:r>
          </a:p>
          <a:p>
            <a:endParaRPr lang="zh-SG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A63CDE0-A484-0204-01D8-D04E0CA6D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446233"/>
              </p:ext>
            </p:extLst>
          </p:nvPr>
        </p:nvGraphicFramePr>
        <p:xfrm>
          <a:off x="838199" y="1845129"/>
          <a:ext cx="5578930" cy="225266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789465">
                  <a:extLst>
                    <a:ext uri="{9D8B030D-6E8A-4147-A177-3AD203B41FA5}">
                      <a16:colId xmlns:a16="http://schemas.microsoft.com/office/drawing/2014/main" val="3936863491"/>
                    </a:ext>
                  </a:extLst>
                </a:gridCol>
                <a:gridCol w="2789465">
                  <a:extLst>
                    <a:ext uri="{9D8B030D-6E8A-4147-A177-3AD203B41FA5}">
                      <a16:colId xmlns:a16="http://schemas.microsoft.com/office/drawing/2014/main" val="335216330"/>
                    </a:ext>
                  </a:extLst>
                </a:gridCol>
              </a:tblGrid>
              <a:tr h="42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84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Csf_HF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2.461 × 10⁻¹⁰ 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790853"/>
                  </a:ext>
                </a:extLst>
              </a:tr>
              <a:tr h="133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Csf_LF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1.516 × 10⁻⁹ 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49427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7863DE8-5F76-8CC4-FED4-60E85BC398C4}"/>
              </a:ext>
            </a:extLst>
          </p:cNvPr>
          <p:cNvSpPr txBox="1"/>
          <p:nvPr/>
        </p:nvSpPr>
        <p:spPr>
          <a:xfrm>
            <a:off x="838199" y="5596027"/>
            <a:ext cx="60946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SG" sz="2800" b="1" dirty="0"/>
              <a:t>Result</a:t>
            </a:r>
            <a:r>
              <a:rPr lang="en-US" altLang="zh-SG" sz="2800" dirty="0"/>
              <a:t>: </a:t>
            </a:r>
            <a:r>
              <a:rPr lang="el-GR" altLang="zh-SG" sz="2800" b="1" dirty="0"/>
              <a:t>η</a:t>
            </a:r>
            <a:r>
              <a:rPr lang="en-US" altLang="zh-SG" sz="2800" b="1" dirty="0" err="1"/>
              <a:t>Lls</a:t>
            </a:r>
            <a:r>
              <a:rPr lang="en-US" altLang="zh-SG" sz="2800" b="1" dirty="0"/>
              <a:t> = 1.7806 × 10⁻² H</a:t>
            </a:r>
            <a:endParaRPr lang="en-US" altLang="zh-SG" sz="2800" dirty="0"/>
          </a:p>
        </p:txBody>
      </p:sp>
      <p:pic>
        <p:nvPicPr>
          <p:cNvPr id="8" name="图片 7" descr="图片包含 形状&#10;&#10;AI 生成的内容可能不正确。">
            <a:extLst>
              <a:ext uri="{FF2B5EF4-FFF2-40B4-BE49-F238E27FC236}">
                <a16:creationId xmlns:a16="http://schemas.microsoft.com/office/drawing/2014/main" id="{C9BDB39F-61DF-77EA-BDCF-D5E2C0C22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252232"/>
            <a:ext cx="3804643" cy="124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836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733CA-ABF5-E794-7CB9-A864574C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Emerging Physical Inconsistency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A5BF0-6784-20CA-BABE-607ACDB80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SG" b="1" dirty="0"/>
              <a:t>Key Observation</a:t>
            </a:r>
            <a:endParaRPr lang="en-US" altLang="zh-SG" dirty="0"/>
          </a:p>
          <a:p>
            <a:r>
              <a:rPr lang="en-US" altLang="zh-SG" dirty="0" err="1"/>
              <a:t>ηLls</a:t>
            </a:r>
            <a:r>
              <a:rPr lang="en-US" altLang="zh-SG" dirty="0"/>
              <a:t> ≈ 70% of total </a:t>
            </a:r>
            <a:r>
              <a:rPr lang="en-US" altLang="zh-SG" dirty="0" err="1"/>
              <a:t>Lls</a:t>
            </a:r>
            <a:endParaRPr lang="en-US" altLang="zh-SG" dirty="0"/>
          </a:p>
          <a:p>
            <a:r>
              <a:rPr lang="en-US" altLang="zh-SG" b="1" dirty="0"/>
              <a:t>Why This Is a Problem</a:t>
            </a:r>
            <a:endParaRPr lang="en-US" altLang="zh-SG" dirty="0"/>
          </a:p>
          <a:p>
            <a:r>
              <a:rPr lang="en-US" altLang="zh-SG" dirty="0" err="1"/>
              <a:t>ηLls</a:t>
            </a:r>
            <a:r>
              <a:rPr lang="en-US" altLang="zh-SG" dirty="0"/>
              <a:t> should represent only </a:t>
            </a:r>
            <a:r>
              <a:rPr lang="en-US" altLang="zh-CN" dirty="0"/>
              <a:t>f</a:t>
            </a:r>
            <a:r>
              <a:rPr lang="en-US" altLang="zh-SG" dirty="0"/>
              <a:t>irst few turns,</a:t>
            </a:r>
            <a:r>
              <a:rPr lang="zh-CN" altLang="en-US" dirty="0"/>
              <a:t> </a:t>
            </a:r>
            <a:r>
              <a:rPr lang="en-US" altLang="zh-CN" dirty="0"/>
              <a:t>v</a:t>
            </a:r>
            <a:r>
              <a:rPr lang="en-US" altLang="zh-SG" dirty="0"/>
              <a:t>ery small portion of stator leakage;</a:t>
            </a:r>
          </a:p>
          <a:p>
            <a:r>
              <a:rPr lang="en-US" altLang="zh-SG" b="1" dirty="0"/>
              <a:t>This contradicts physical intuition</a:t>
            </a:r>
            <a:endParaRPr lang="en-US" altLang="zh-SG" dirty="0"/>
          </a:p>
          <a:p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231420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84DDA-580F-4E74-FC35-008FDF61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Impact on High-Frequency Simulation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155BD-92EF-9669-6CD0-4C248C23A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2" y="1825625"/>
            <a:ext cx="4441372" cy="4351338"/>
          </a:xfrm>
        </p:spPr>
        <p:txBody>
          <a:bodyPr/>
          <a:lstStyle/>
          <a:p>
            <a:r>
              <a:rPr lang="en-US" altLang="zh-SG" b="1" dirty="0"/>
              <a:t>If </a:t>
            </a:r>
            <a:r>
              <a:rPr lang="en-US" altLang="zh-SG" b="1" dirty="0" err="1"/>
              <a:t>ηLls</a:t>
            </a:r>
            <a:r>
              <a:rPr lang="en-US" altLang="zh-SG" b="1" dirty="0"/>
              <a:t> is large</a:t>
            </a:r>
            <a:endParaRPr lang="en-US" altLang="zh-SG" dirty="0"/>
          </a:p>
          <a:p>
            <a:r>
              <a:rPr lang="en-US" altLang="zh-SG" dirty="0"/>
              <a:t>Circuit becomes strongly inductive at HF</a:t>
            </a:r>
          </a:p>
          <a:p>
            <a:r>
              <a:rPr lang="en-US" altLang="zh-SG" dirty="0"/>
              <a:t>Impedance magnitude explodes</a:t>
            </a:r>
          </a:p>
          <a:p>
            <a:r>
              <a:rPr lang="en-US" altLang="zh-SG" dirty="0"/>
              <a:t>Phase stays near +90°</a:t>
            </a:r>
          </a:p>
          <a:p>
            <a:r>
              <a:rPr lang="en-US" altLang="zh-SG" b="1" dirty="0"/>
              <a:t>Mismatch</a:t>
            </a:r>
            <a:endParaRPr lang="en-US" altLang="zh-SG" dirty="0"/>
          </a:p>
          <a:p>
            <a:r>
              <a:rPr lang="en-US" altLang="zh-SG" dirty="0"/>
              <a:t>Strongly inconsistent with measured data</a:t>
            </a:r>
          </a:p>
          <a:p>
            <a:endParaRPr lang="zh-SG" altLang="en-US" dirty="0"/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72CD507F-2669-5A8A-3A34-54197CF8F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1601294"/>
            <a:ext cx="7200000" cy="4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B1377-C683-3DAE-B859-9C039055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Empirical Correction Test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B905CB-B9FC-4105-FCC5-A88B481DC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2" y="1690688"/>
            <a:ext cx="4501242" cy="4351338"/>
          </a:xfrm>
        </p:spPr>
        <p:txBody>
          <a:bodyPr>
            <a:normAutofit fontScale="92500"/>
          </a:bodyPr>
          <a:lstStyle/>
          <a:p>
            <a:r>
              <a:rPr lang="en-US" altLang="zh-SG" b="1" dirty="0"/>
              <a:t>Experiment</a:t>
            </a:r>
            <a:endParaRPr lang="en-US" altLang="zh-SG" dirty="0"/>
          </a:p>
          <a:p>
            <a:r>
              <a:rPr lang="en-US" altLang="zh-SG" dirty="0"/>
              <a:t>Reduce </a:t>
            </a:r>
            <a:r>
              <a:rPr lang="en-US" altLang="zh-SG" dirty="0" err="1"/>
              <a:t>ηLls</a:t>
            </a:r>
            <a:r>
              <a:rPr lang="en-US" altLang="zh-SG" dirty="0"/>
              <a:t> to a much smaller value</a:t>
            </a:r>
          </a:p>
          <a:p>
            <a:r>
              <a:rPr lang="en-US" altLang="zh-SG" b="1" dirty="0"/>
              <a:t>Result</a:t>
            </a:r>
            <a:endParaRPr lang="en-US" altLang="zh-SG" dirty="0"/>
          </a:p>
          <a:p>
            <a:r>
              <a:rPr lang="en-US" altLang="zh-SG" dirty="0"/>
              <a:t>HF impedance curve:</a:t>
            </a:r>
          </a:p>
          <a:p>
            <a:pPr lvl="1"/>
            <a:r>
              <a:rPr lang="en-US" altLang="zh-SG" dirty="0"/>
              <a:t>Matches experiment very well</a:t>
            </a:r>
          </a:p>
          <a:p>
            <a:pPr lvl="1"/>
            <a:r>
              <a:rPr lang="en-US" altLang="zh-SG" dirty="0"/>
              <a:t>Both magnitude and phase</a:t>
            </a:r>
          </a:p>
          <a:p>
            <a:r>
              <a:rPr lang="en-US" altLang="zh-SG" b="1" dirty="0"/>
              <a:t>Implication</a:t>
            </a:r>
            <a:endParaRPr lang="en-US" altLang="zh-SG" dirty="0"/>
          </a:p>
          <a:p>
            <a:r>
              <a:rPr lang="en-US" altLang="zh-SG" dirty="0"/>
              <a:t>Original formula likely overestimates </a:t>
            </a:r>
            <a:r>
              <a:rPr lang="en-US" altLang="zh-SG" dirty="0" err="1"/>
              <a:t>ηLls</a:t>
            </a:r>
            <a:endParaRPr lang="en-US" altLang="zh-SG" dirty="0"/>
          </a:p>
          <a:p>
            <a:endParaRPr lang="zh-SG" altLang="en-US" dirty="0"/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C20E760A-4C8B-B574-9430-F26A9F7FF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598" y="1601293"/>
            <a:ext cx="7199999" cy="47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13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4950B-FEA4-4151-8398-8ED15D99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Root Cause Analysis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E47D6-B67F-A553-BF44-1F03E074F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136" y="1760311"/>
            <a:ext cx="5370864" cy="4351338"/>
          </a:xfrm>
        </p:spPr>
        <p:txBody>
          <a:bodyPr>
            <a:normAutofit lnSpcReduction="10000"/>
          </a:bodyPr>
          <a:lstStyle/>
          <a:p>
            <a:r>
              <a:rPr lang="en-US" altLang="zh-SG" b="1" dirty="0"/>
              <a:t>Observations</a:t>
            </a:r>
            <a:endParaRPr lang="en-US" altLang="zh-SG" dirty="0"/>
          </a:p>
          <a:p>
            <a:r>
              <a:rPr lang="en-US" altLang="zh-SG" dirty="0"/>
              <a:t>Formula depends only on: </a:t>
            </a:r>
            <a:r>
              <a:rPr lang="en-US" altLang="zh-SG" dirty="0" err="1"/>
              <a:t>Csf</a:t>
            </a:r>
            <a:r>
              <a:rPr lang="en-US" altLang="zh-SG" dirty="0"/>
              <a:t>, fa</a:t>
            </a:r>
          </a:p>
          <a:p>
            <a:r>
              <a:rPr lang="en-US" altLang="zh-SG" b="1" dirty="0"/>
              <a:t>Possible Issues</a:t>
            </a:r>
            <a:endParaRPr lang="en-US" altLang="zh-SG" dirty="0"/>
          </a:p>
          <a:p>
            <a:r>
              <a:rPr lang="en-US" altLang="zh-SG" dirty="0" err="1"/>
              <a:t>Csf</a:t>
            </a:r>
            <a:r>
              <a:rPr lang="en-US" altLang="zh-SG" dirty="0"/>
              <a:t> definition ambiguity</a:t>
            </a:r>
          </a:p>
          <a:p>
            <a:r>
              <a:rPr lang="en-US" altLang="zh-SG" dirty="0"/>
              <a:t>fa identification ambiguity</a:t>
            </a:r>
          </a:p>
          <a:p>
            <a:r>
              <a:rPr lang="en-US" altLang="zh-SG" dirty="0"/>
              <a:t>Missing geometric assumptions</a:t>
            </a:r>
          </a:p>
          <a:p>
            <a:r>
              <a:rPr lang="en-US" altLang="zh-SG" b="1" dirty="0"/>
              <a:t>Current Hypothesis</a:t>
            </a:r>
            <a:endParaRPr lang="en-US" altLang="zh-SG" dirty="0"/>
          </a:p>
          <a:p>
            <a:r>
              <a:rPr lang="en-US" altLang="zh-SG" dirty="0"/>
              <a:t>Formula is incomplete or context-dependent</a:t>
            </a:r>
          </a:p>
          <a:p>
            <a:endParaRPr lang="zh-SG" altLang="en-US" dirty="0"/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AF0F8288-C658-CD86-3325-9D2B207EA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157" y="1315241"/>
            <a:ext cx="5370864" cy="503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5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5A33F-DA29-8E99-6F85-71D86E69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Next Steps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20EF19-BB86-2D83-A851-5BF2F31C0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SG" sz="3200" b="1" dirty="0"/>
              <a:t>Planned Work</a:t>
            </a:r>
            <a:endParaRPr lang="en-US" altLang="zh-SG" sz="3200" dirty="0"/>
          </a:p>
          <a:p>
            <a:r>
              <a:rPr lang="en-US" altLang="zh-SG" sz="3200" dirty="0"/>
              <a:t>Re-derive high-frequency leakage path </a:t>
            </a:r>
          </a:p>
          <a:p>
            <a:r>
              <a:rPr lang="en-US" altLang="zh-SG" sz="3200" dirty="0"/>
              <a:t>Refactor parameter extraction codebase</a:t>
            </a:r>
          </a:p>
          <a:p>
            <a:r>
              <a:rPr lang="en-US" altLang="zh-SG" sz="3200" dirty="0"/>
              <a:t>Improve fitting strategy after model stabilization</a:t>
            </a:r>
          </a:p>
          <a:p>
            <a:r>
              <a:rPr lang="en-US" altLang="zh-SG" sz="3200" dirty="0"/>
              <a:t>Extend model with additional HF branches</a:t>
            </a:r>
          </a:p>
          <a:p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4114699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D9090-00D8-8F53-515D-86AFAAD0B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</a:t>
            </a:r>
            <a:endParaRPr lang="zh-SG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831C1-9CD5-F749-4F58-056758D4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修饰最后一段关键是加电容，串联？关键是选一个点位，然后算等效电感之后，就可以根据需要的谐振频率来算这个电容的值。当然点位有很多，要看哪个合理，有些都算不出来。然后做出来之后还要多选几组来对比，确认对各种情况差模共模都能胜任。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665542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630</Words>
  <Application>Microsoft Office PowerPoint</Application>
  <PresentationFormat>宽屏</PresentationFormat>
  <Paragraphs>123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主题​​</vt:lpstr>
      <vt:lpstr>GROUP MEETING</vt:lpstr>
      <vt:lpstr>Recent Progress</vt:lpstr>
      <vt:lpstr>Fitting Strategy Update</vt:lpstr>
      <vt:lpstr>Status of Paper Replication</vt:lpstr>
      <vt:lpstr>Extraction of Stator Series Leakage Inductance (Lls)</vt:lpstr>
      <vt:lpstr>Extraction of Stator Series Leakage Inductance (Lls)</vt:lpstr>
      <vt:lpstr>Computing ηLls, Stator first turn leakage inductance</vt:lpstr>
      <vt:lpstr>Computing ηLls, Stator first turn leakage inductance</vt:lpstr>
      <vt:lpstr>Computing ηLls, Stator first turn leakage inductance</vt:lpstr>
      <vt:lpstr>Emerging Physical Inconsistency</vt:lpstr>
      <vt:lpstr>Impact on High-Frequency Simulation</vt:lpstr>
      <vt:lpstr>Empirical Correction Test</vt:lpstr>
      <vt:lpstr>Root Cause Analysis</vt:lpstr>
      <vt:lpstr>Next Steps</vt:lpstr>
      <vt:lpstr>add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Fengyifei Xu</dc:creator>
  <cp:lastModifiedBy>Fengyifei Xu</cp:lastModifiedBy>
  <cp:revision>3</cp:revision>
  <dcterms:created xsi:type="dcterms:W3CDTF">2026-01-12T02:03:21Z</dcterms:created>
  <dcterms:modified xsi:type="dcterms:W3CDTF">2026-01-27T06:13:21Z</dcterms:modified>
</cp:coreProperties>
</file>