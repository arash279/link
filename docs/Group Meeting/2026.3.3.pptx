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2" r:id="rId5"/>
    <p:sldId id="264" r:id="rId6"/>
    <p:sldId id="265" r:id="rId7"/>
    <p:sldId id="261" r:id="rId8"/>
    <p:sldId id="266" r:id="rId9"/>
    <p:sldId id="267" r:id="rId10"/>
    <p:sldId id="269" r:id="rId11"/>
    <p:sldId id="270" r:id="rId12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B90252-9B20-4C27-983A-15165C14196A}" type="datetimeFigureOut">
              <a:rPr lang="zh-SG" altLang="en-US" smtClean="0"/>
              <a:t>4/3/2026</a:t>
            </a:fld>
            <a:endParaRPr lang="zh-SG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SG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F575B-52B1-4232-B3D4-EA3F92DC72FF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70458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SG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F575B-52B1-4232-B3D4-EA3F92DC72FF}" type="slidenum">
              <a:rPr lang="zh-SG" altLang="en-US" smtClean="0"/>
              <a:t>7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371606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6F800-0F40-93FC-8717-86E00A465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21F051-F23D-5A23-5749-909A79352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14F122-33F8-C3AC-978B-084F02E26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5C9B-66ED-4858-92A7-9A659FF3364D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10120E-8D06-DD24-891F-44B925FA6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8BFD2-7F40-4347-EDF0-CFE9CBAA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455F-F19F-4DAC-8F79-43180BF93D5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609272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BA0E6-B13F-020B-3E62-F82CC076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4D2BC-F96B-2630-473D-FD10C041C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413211-CF3B-EC48-5CDA-E3DFF854E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5C9B-66ED-4858-92A7-9A659FF3364D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8FEB6E-13EE-C352-0E5B-D9478D10A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C5AE32-6F16-F9DC-F821-622FF7016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455F-F19F-4DAC-8F79-43180BF93D5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903321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97E23-A689-0AE7-F9AA-68EAF4313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0A218E-89CC-A37C-43A0-6FD15093A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FE8C74-55DA-016C-FADE-82DA3302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5C9B-66ED-4858-92A7-9A659FF3364D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808F83-5A67-47A0-EDE6-2240A9BE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FFE48E-F3D9-8ECB-B535-744BB872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455F-F19F-4DAC-8F79-43180BF93D5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957007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5EEAE7-8A19-7ADA-0159-9C26D7BE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A2D332-EE4B-77ED-57B1-9904C6957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B2DF88-C137-20FB-8D81-B68022E7E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8760CF-12BF-1718-7AD1-F479740C2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5C9B-66ED-4858-92A7-9A659FF3364D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F1E907-0DBC-A42C-656F-187AE68C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EE87FB-C473-F268-2C4D-44D7DD8B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455F-F19F-4DAC-8F79-43180BF93D5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23690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8A75DB-435A-962F-9D90-693FBD2F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58D01B-7876-3838-0C9F-69D36BB23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A8583C-3914-DEE4-147D-489262F16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224FE1-3AEF-84DF-E113-B83310D57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7A5A4A-B072-4D9E-8B56-C24072771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2754CF5-4FAC-1A5D-A73C-FA2DDC221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5C9B-66ED-4858-92A7-9A659FF3364D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C6FF0A-E380-E6E7-6E90-454C5F4F8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BE96EE-7265-E71B-537A-57338525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455F-F19F-4DAC-8F79-43180BF93D5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4723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FC342E-8F62-4803-CCFB-5D29808A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997879-422E-EBC7-27CA-B68267029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5C9B-66ED-4858-92A7-9A659FF3364D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177E26-80B5-7528-3C21-E95929D1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680A43-8C6E-3FE6-7907-03DC7162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455F-F19F-4DAC-8F79-43180BF93D5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005158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CFBB46-E838-D47B-8B29-91BE2DEC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5C9B-66ED-4858-92A7-9A659FF3364D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26E8C6-540C-0B1E-1F22-AEE6A793C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A80D9-6087-58A1-9ABB-F484CB47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455F-F19F-4DAC-8F79-43180BF93D5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08128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A3FF4-1791-09F1-6FBA-81DE85E9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BB1537-09E4-793E-3094-AAB23A338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3497D1-C9B8-147F-8A39-39EDF0AC4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0C9A9F-A0C4-98A3-E000-5E3F8407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5C9B-66ED-4858-92A7-9A659FF3364D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A14873-F001-D542-604C-8C736BC7C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F23194-1FBD-4F7C-E28E-E79AC8875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455F-F19F-4DAC-8F79-43180BF93D5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067726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DEA15-39CB-874A-C907-7308F2FDB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CEA610-FC17-7087-00D7-D9C8DB6FD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8D02B1-8EF6-477C-E9B3-FF3F5C504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BD43DB-94C3-2C47-0B80-F10DD38CB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5C9B-66ED-4858-92A7-9A659FF3364D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1B9887-4D6A-00FE-1A4E-7979E31B8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EA9862-953A-B1DA-6945-EBE1E97CD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455F-F19F-4DAC-8F79-43180BF93D5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767281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14CB9D-AB1C-8DCC-BBDA-CB0FDA61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F70144-570F-3B63-B96B-36DDC558E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B8E9C0-0F3E-7E3C-CCCF-71A1B2B70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5C9B-66ED-4858-92A7-9A659FF3364D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AC51A4-0A20-95FE-6CF6-68D5C826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762A42-C8D4-E0E6-E5AB-F6F4A3B1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455F-F19F-4DAC-8F79-43180BF93D5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056372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387052-3467-FA3A-3619-60902D9BF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73FC57-E0BB-348B-FC1E-33A405695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CCC3CB-289E-95D4-D807-3356F3F2B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5C9B-66ED-4858-92A7-9A659FF3364D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4DEFA-C74A-4012-DDB1-B319289E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3EA843-ABE0-18A8-6226-2844A86B5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A455F-F19F-4DAC-8F79-43180BF93D5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680905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DDAB0B-292C-E104-2476-C99E93BA0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3F681A-AD0F-F81A-B200-53CE490ED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30D31D-F6FC-C76C-ECEF-4C44097B5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B5C9B-66ED-4858-92A7-9A659FF3364D}" type="datetimeFigureOut">
              <a:rPr lang="zh-SG" altLang="en-US" smtClean="0"/>
              <a:t>3/3/2026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F8FFF1-B3D3-0454-DF6E-ACCA89983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6FD9DD-F2A8-26CB-BDF9-300C54C5A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A455F-F19F-4DAC-8F79-43180BF93D5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029497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CC312-E5BC-5DF0-B615-1AC91D8C3A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SG" dirty="0"/>
              <a:t>2026.3.3</a:t>
            </a:r>
            <a:endParaRPr lang="zh-SG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00F506-8AB5-13F5-08F0-E95EF3786D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SG" dirty="0"/>
              <a:t>Group meeting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158893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B8879-2ACC-6270-8860-23928C8C0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Recent Work Summary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735413-EE35-BF81-0A5C-057CBC3CC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Objective</a:t>
            </a:r>
          </a:p>
          <a:p>
            <a:r>
              <a:rPr lang="en-US" altLang="zh-CN" dirty="0"/>
              <a:t>Key question:</a:t>
            </a:r>
          </a:p>
          <a:p>
            <a:r>
              <a:rPr lang="en-US" altLang="zh-CN" dirty="0"/>
              <a:t>Is the performance gain from better optimization or better model structure?</a:t>
            </a:r>
          </a:p>
          <a:p>
            <a:endParaRPr lang="en-US" altLang="zh-CN" dirty="0"/>
          </a:p>
          <a:p>
            <a:r>
              <a:rPr lang="en-US" altLang="zh-CN" dirty="0"/>
              <a:t>Strategy</a:t>
            </a:r>
          </a:p>
          <a:p>
            <a:r>
              <a:rPr lang="en-US" altLang="zh-CN" dirty="0"/>
              <a:t>baseline groups:</a:t>
            </a:r>
          </a:p>
          <a:p>
            <a:r>
              <a:rPr lang="en-US" altLang="zh-CN" dirty="0"/>
              <a:t>Same structure, stronger optimizers</a:t>
            </a:r>
          </a:p>
          <a:p>
            <a:r>
              <a:rPr lang="en-US" altLang="zh-CN" dirty="0"/>
              <a:t>Structure ablation</a:t>
            </a:r>
          </a:p>
          <a:p>
            <a:r>
              <a:rPr lang="en-US" altLang="zh-CN" dirty="0"/>
              <a:t>Pure data-driven (MLP)</a:t>
            </a:r>
            <a:endParaRPr lang="en-US" altLang="zh-SG" dirty="0"/>
          </a:p>
        </p:txBody>
      </p:sp>
    </p:spTree>
    <p:extLst>
      <p:ext uri="{BB962C8B-B14F-4D97-AF65-F5344CB8AC3E}">
        <p14:creationId xmlns:p14="http://schemas.microsoft.com/office/powerpoint/2010/main" val="3471894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778EC-92F6-0565-EE5E-AEBFF25D2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7100" y="512663"/>
            <a:ext cx="3828703" cy="1325563"/>
          </a:xfrm>
        </p:spPr>
        <p:txBody>
          <a:bodyPr/>
          <a:lstStyle/>
          <a:p>
            <a:r>
              <a:rPr lang="en-US" altLang="zh-CN" dirty="0"/>
              <a:t>Current Method </a:t>
            </a:r>
            <a:endParaRPr lang="zh-SG" altLang="en-US" dirty="0"/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38164ED1-5A63-E2FD-AF29-CE04CF668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5400000" cy="36000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ADB8A85-64AE-156F-56A5-C9803E92E8C9}"/>
              </a:ext>
            </a:extLst>
          </p:cNvPr>
          <p:cNvSpPr txBox="1"/>
          <p:nvPr/>
        </p:nvSpPr>
        <p:spPr>
          <a:xfrm>
            <a:off x="6007101" y="1838226"/>
            <a:ext cx="551352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SG" altLang="en-US" sz="2000" dirty="0"/>
              <a:t>Core Algorithm: Two-stage optimization (global + local) (differential_evolution → least_squares), with multiple starting point selection.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SG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SG" altLang="en-US" sz="2000" dirty="0"/>
              <a:t>Objective Function: Using the Re/Im residual of complex impedance (instead of log|Z|+phase), and introducing frequency weights (compute_freq_weights), scale normalization (MAD/STD), and robust loss (soft_l1/huber).</a:t>
            </a:r>
            <a:endParaRPr lang="en-US" altLang="zh-SG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SG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err="1"/>
              <a:t>A</a:t>
            </a:r>
            <a:r>
              <a:rPr lang="en-US" altLang="zh-SG" sz="2000" dirty="0" err="1"/>
              <a:t>"more</a:t>
            </a:r>
            <a:r>
              <a:rPr lang="en-US" altLang="zh-SG" sz="2000" dirty="0"/>
              <a:t> robust fit" version, which focuses on improving global search capabilities, outlier resistance, and diagnosing model defects from residual structure.</a:t>
            </a:r>
            <a:endParaRPr lang="zh-SG" altLang="en-US" sz="2000" dirty="0"/>
          </a:p>
        </p:txBody>
      </p:sp>
      <p:pic>
        <p:nvPicPr>
          <p:cNvPr id="16" name="内容占位符 4">
            <a:extLst>
              <a:ext uri="{FF2B5EF4-FFF2-40B4-BE49-F238E27FC236}">
                <a16:creationId xmlns:a16="http://schemas.microsoft.com/office/drawing/2014/main" id="{40A7C468-AF70-4050-9F3C-5F311A7967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812982"/>
            <a:ext cx="5400000" cy="30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172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96452-30CF-010B-65F7-88F1E727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489D7-0E5D-F665-59B7-A7BA2AB6B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25363"/>
            <a:ext cx="3828703" cy="1325563"/>
          </a:xfrm>
        </p:spPr>
        <p:txBody>
          <a:bodyPr/>
          <a:lstStyle/>
          <a:p>
            <a:r>
              <a:rPr lang="en-US" altLang="zh-CN" dirty="0"/>
              <a:t>Initial version</a:t>
            </a:r>
            <a:endParaRPr lang="zh-SG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7E7A82-D5BB-9835-1A86-781AAD27188B}"/>
              </a:ext>
            </a:extLst>
          </p:cNvPr>
          <p:cNvSpPr txBox="1"/>
          <p:nvPr/>
        </p:nvSpPr>
        <p:spPr>
          <a:xfrm>
            <a:off x="6096001" y="1850926"/>
            <a:ext cx="551352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SG" sz="2000" dirty="0"/>
              <a:t>Core Algorithm: Single-step local optimization (</a:t>
            </a:r>
            <a:r>
              <a:rPr lang="en-US" altLang="zh-SG" sz="2000" dirty="0" err="1"/>
              <a:t>scipy.optimize.least_squares</a:t>
            </a:r>
            <a:r>
              <a:rPr lang="en-US" altLang="zh-SG" sz="20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SG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SG" sz="2000" dirty="0"/>
              <a:t>Objective Function: Log10(|Z|) concatenated with the phase residual (phase difference using </a:t>
            </a:r>
            <a:r>
              <a:rPr lang="en-US" altLang="zh-SG" sz="2000" dirty="0" err="1"/>
              <a:t>phase_diff_deg</a:t>
            </a:r>
            <a:r>
              <a:rPr lang="en-US" altLang="zh-SG" sz="2000" dirty="0"/>
              <a:t>), scaled with fixed weights W_LOGMAG / W_PHASE.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SG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SG" sz="2000" dirty="0"/>
              <a:t>The simplest "local least squares" baseline, fast, but prone to getting trapped in local optima and lacks global search or uncertainty estimation.</a:t>
            </a:r>
            <a:endParaRPr lang="zh-SG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B244AD-23A2-9522-7FA1-162978E0D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000" cy="360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39FFB5A-A5C9-41A1-B422-317CF41DB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2982"/>
            <a:ext cx="5400000" cy="30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56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9BF01-17DB-04F0-05EF-8A461B6A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D3B69-0D58-350F-89F8-1F1CBB9D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25363"/>
            <a:ext cx="3828703" cy="1325563"/>
          </a:xfrm>
        </p:spPr>
        <p:txBody>
          <a:bodyPr/>
          <a:lstStyle/>
          <a:p>
            <a:r>
              <a:rPr lang="en-US" altLang="zh-CN" dirty="0"/>
              <a:t>NUTS</a:t>
            </a:r>
            <a:endParaRPr lang="zh-SG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7DCD47-7291-1A78-2F1E-8018F24ABB13}"/>
              </a:ext>
            </a:extLst>
          </p:cNvPr>
          <p:cNvSpPr txBox="1"/>
          <p:nvPr/>
        </p:nvSpPr>
        <p:spPr>
          <a:xfrm>
            <a:off x="6096001" y="1850926"/>
            <a:ext cx="551352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SG" sz="2000" dirty="0"/>
              <a:t>Core Algorithm: Based on </a:t>
            </a:r>
            <a:r>
              <a:rPr lang="en-US" altLang="zh-SG" sz="2000" dirty="0" err="1"/>
              <a:t>CurVer</a:t>
            </a:r>
            <a:r>
              <a:rPr lang="en-US" altLang="zh-SG" sz="2000" dirty="0"/>
              <a:t>, Bayesian inference (NUTS in </a:t>
            </a:r>
            <a:r>
              <a:rPr lang="en-US" altLang="zh-SG" sz="2000" dirty="0" err="1"/>
              <a:t>PyMC</a:t>
            </a:r>
            <a:r>
              <a:rPr lang="en-US" altLang="zh-SG" sz="2000" dirty="0"/>
              <a:t>) is added. First, global and local point estimates are obtained, then NUTS sampling is used to obtain the posterior distribution.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SG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SG" sz="2000" dirty="0"/>
              <a:t>Objective Function: Still based on Re/</a:t>
            </a:r>
            <a:r>
              <a:rPr lang="en-US" altLang="zh-SG" sz="2000" dirty="0" err="1"/>
              <a:t>Im</a:t>
            </a:r>
            <a:r>
              <a:rPr lang="en-US" altLang="zh-SG" sz="2000" dirty="0"/>
              <a:t> residuals, but expressed using a probabilistic model (</a:t>
            </a:r>
            <a:r>
              <a:rPr lang="en-US" altLang="zh-SG" sz="2000" dirty="0" err="1"/>
              <a:t>pm.Normal</a:t>
            </a:r>
            <a:r>
              <a:rPr lang="en-US" altLang="zh-SG" sz="2000" dirty="0"/>
              <a:t> observation residuals), generating MAP and posterior mean.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SG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SG" sz="2000" dirty="0"/>
              <a:t>A version with "uncertainty estimation" can output parameter distributions and confidence intervals, at the cost of a significant increase in computation.</a:t>
            </a:r>
            <a:endParaRPr lang="zh-SG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68A6F8-C1BA-B1FF-44FD-8318A34AA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000" cy="360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B3EE97-0197-1181-2CA7-46789BD7A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2983"/>
            <a:ext cx="5400000" cy="30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1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09C0E-C753-41F5-190C-BF30405B2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F1DBA-CD11-FD9C-8997-2BB5464C8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25363"/>
            <a:ext cx="3828703" cy="1325563"/>
          </a:xfrm>
        </p:spPr>
        <p:txBody>
          <a:bodyPr/>
          <a:lstStyle/>
          <a:p>
            <a:r>
              <a:rPr lang="en-US" altLang="zh-CN" dirty="0"/>
              <a:t>GA</a:t>
            </a:r>
            <a:endParaRPr lang="zh-SG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6B6545D-5637-60B1-B6B8-F3D684004FC0}"/>
              </a:ext>
            </a:extLst>
          </p:cNvPr>
          <p:cNvSpPr txBox="1"/>
          <p:nvPr/>
        </p:nvSpPr>
        <p:spPr>
          <a:xfrm>
            <a:off x="6096001" y="1850926"/>
            <a:ext cx="551352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SG" sz="2000" dirty="0"/>
              <a:t>Core Algorithm: Based on </a:t>
            </a:r>
            <a:r>
              <a:rPr lang="en-US" altLang="zh-SG" sz="2000" dirty="0" err="1"/>
              <a:t>CurVer</a:t>
            </a:r>
            <a:r>
              <a:rPr lang="en-US" altLang="zh-SG" sz="2000" dirty="0"/>
              <a:t>, Bayesian inference (NUTS in </a:t>
            </a:r>
            <a:r>
              <a:rPr lang="en-US" altLang="zh-SG" sz="2000" dirty="0" err="1"/>
              <a:t>PyMC</a:t>
            </a:r>
            <a:r>
              <a:rPr lang="en-US" altLang="zh-SG" sz="2000" dirty="0"/>
              <a:t>) is added. First, global and local point estimates are obtained, then NUTS sampling is used to obtain the posterior distribution.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SG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SG" sz="2000" dirty="0"/>
              <a:t>Objective Function: Still based on Re/</a:t>
            </a:r>
            <a:r>
              <a:rPr lang="en-US" altLang="zh-SG" sz="2000" dirty="0" err="1"/>
              <a:t>Im</a:t>
            </a:r>
            <a:r>
              <a:rPr lang="en-US" altLang="zh-SG" sz="2000" dirty="0"/>
              <a:t> residuals, but expressed using a probabilistic model (</a:t>
            </a:r>
            <a:r>
              <a:rPr lang="en-US" altLang="zh-SG" sz="2000" dirty="0" err="1"/>
              <a:t>pm.Normal</a:t>
            </a:r>
            <a:r>
              <a:rPr lang="en-US" altLang="zh-SG" sz="2000" dirty="0"/>
              <a:t> observation residuals), generating MAP and posterior mean.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SG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SG" sz="2000" dirty="0"/>
              <a:t>A version with "uncertainty estimation" can output parameter distributions and confidence intervals, at the cost of a significant increase in computation.</a:t>
            </a:r>
            <a:endParaRPr lang="zh-SG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A5A21C-DC39-362C-3DE8-E702D3672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000" cy="360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C0DD35A-D013-6B78-2C20-CB8E82715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2983"/>
            <a:ext cx="5400000" cy="30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4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4246A1-3521-38D9-9EDD-CA78035B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0"/>
            <a:ext cx="5327650" cy="1325563"/>
          </a:xfrm>
        </p:spPr>
        <p:txBody>
          <a:bodyPr/>
          <a:lstStyle/>
          <a:p>
            <a:r>
              <a:rPr lang="en-US" altLang="zh-SG" dirty="0"/>
              <a:t>Algorithm Comparison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113B92-8001-6FD8-7CF6-59F3D901E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300" y="1146174"/>
            <a:ext cx="5727700" cy="5711825"/>
          </a:xfrm>
        </p:spPr>
        <p:txBody>
          <a:bodyPr>
            <a:normAutofit/>
          </a:bodyPr>
          <a:lstStyle/>
          <a:p>
            <a:r>
              <a:rPr lang="en-US" altLang="zh-SG" sz="2000" dirty="0"/>
              <a:t>Same accuracy across all methods: </a:t>
            </a:r>
          </a:p>
          <a:p>
            <a:r>
              <a:rPr lang="en-US" altLang="zh-SG" sz="2000" dirty="0" err="1"/>
              <a:t>SSE_raw</a:t>
            </a:r>
            <a:r>
              <a:rPr lang="en-US" altLang="zh-SG" sz="2000" dirty="0"/>
              <a:t> ≈ 5.45×10^7, </a:t>
            </a:r>
            <a:r>
              <a:rPr lang="en-US" altLang="zh-SG" sz="2000" dirty="0" err="1"/>
              <a:t>RMSE_raw</a:t>
            </a:r>
            <a:r>
              <a:rPr lang="en-US" altLang="zh-SG" sz="2000" dirty="0"/>
              <a:t> = 130.917 for </a:t>
            </a:r>
            <a:r>
              <a:rPr lang="en-US" altLang="zh-SG" sz="2000" dirty="0" err="1"/>
              <a:t>CurVer</a:t>
            </a:r>
            <a:r>
              <a:rPr lang="en-US" altLang="zh-SG" sz="2000" dirty="0"/>
              <a:t> / GA / NUTS; </a:t>
            </a:r>
          </a:p>
          <a:p>
            <a:r>
              <a:rPr lang="en-US" altLang="zh-SG" sz="2000" dirty="0" err="1"/>
              <a:t>AIC_raw</a:t>
            </a:r>
            <a:r>
              <a:rPr lang="en-US" altLang="zh-SG" sz="2000" dirty="0"/>
              <a:t> / </a:t>
            </a:r>
            <a:r>
              <a:rPr lang="en-US" altLang="zh-SG" sz="2000" dirty="0" err="1"/>
              <a:t>BIC_raw</a:t>
            </a:r>
            <a:r>
              <a:rPr lang="en-US" altLang="zh-SG" sz="2000" dirty="0"/>
              <a:t> essentially identical; </a:t>
            </a:r>
          </a:p>
          <a:p>
            <a:r>
              <a:rPr lang="en-US" altLang="zh-SG" sz="2000" dirty="0"/>
              <a:t>GP residual peak frequencies identical (Re/</a:t>
            </a:r>
            <a:r>
              <a:rPr lang="en-US" altLang="zh-SG" sz="2000" dirty="0" err="1"/>
              <a:t>Im</a:t>
            </a:r>
            <a:r>
              <a:rPr lang="en-US" altLang="zh-SG" sz="2000" dirty="0"/>
              <a:t>/Phase) → converged to the same optimum</a:t>
            </a:r>
          </a:p>
          <a:p>
            <a:r>
              <a:rPr lang="en-US" altLang="zh-SG" sz="2000" dirty="0"/>
              <a:t>Compute cost differs dramatically: </a:t>
            </a:r>
          </a:p>
          <a:p>
            <a:r>
              <a:rPr lang="en-US" altLang="zh-SG" sz="2000" dirty="0" err="1"/>
              <a:t>CurVer</a:t>
            </a:r>
            <a:r>
              <a:rPr lang="en-US" altLang="zh-SG" sz="2000" dirty="0"/>
              <a:t>: </a:t>
            </a:r>
            <a:r>
              <a:rPr lang="en-US" altLang="zh-SG" sz="2000" dirty="0" err="1"/>
              <a:t>T_fit_total</a:t>
            </a:r>
            <a:r>
              <a:rPr lang="en-US" altLang="zh-SG" sz="2000" dirty="0"/>
              <a:t> = 4.943 s, </a:t>
            </a:r>
            <a:r>
              <a:rPr lang="en-US" altLang="zh-SG" sz="2000" dirty="0" err="1"/>
              <a:t>model_eval</a:t>
            </a:r>
            <a:r>
              <a:rPr lang="en-US" altLang="zh-SG" sz="2000" dirty="0"/>
              <a:t> = 20,399; </a:t>
            </a:r>
          </a:p>
          <a:p>
            <a:r>
              <a:rPr lang="en-US" altLang="zh-SG" sz="2000" dirty="0"/>
              <a:t>GA: </a:t>
            </a:r>
            <a:r>
              <a:rPr lang="en-US" altLang="zh-SG" sz="2000" dirty="0" err="1"/>
              <a:t>T_fit_total</a:t>
            </a:r>
            <a:r>
              <a:rPr lang="en-US" altLang="zh-SG" sz="2000" dirty="0"/>
              <a:t> = 36.394 s (~7.4× slower), </a:t>
            </a:r>
            <a:r>
              <a:rPr lang="en-US" altLang="zh-SG" sz="2000" dirty="0" err="1"/>
              <a:t>model_eval</a:t>
            </a:r>
            <a:r>
              <a:rPr lang="en-US" altLang="zh-SG" sz="2000" dirty="0"/>
              <a:t> = 70,286 (~3.4× more evals); </a:t>
            </a:r>
          </a:p>
          <a:p>
            <a:r>
              <a:rPr lang="en-US" altLang="zh-SG" sz="2000" dirty="0"/>
              <a:t>NUTS: </a:t>
            </a:r>
            <a:r>
              <a:rPr lang="en-US" altLang="zh-SG" sz="2000" dirty="0" err="1"/>
              <a:t>T_fit_total</a:t>
            </a:r>
            <a:r>
              <a:rPr lang="en-US" altLang="zh-SG" sz="2000" dirty="0"/>
              <a:t> = 878.821 s (~178× slower), dominated by </a:t>
            </a:r>
            <a:r>
              <a:rPr lang="en-US" altLang="zh-SG" sz="2000" dirty="0" err="1"/>
              <a:t>T_nuts</a:t>
            </a:r>
            <a:r>
              <a:rPr lang="en-US" altLang="zh-SG" sz="2000" dirty="0"/>
              <a:t> = 867.419 s</a:t>
            </a:r>
          </a:p>
          <a:p>
            <a:r>
              <a:rPr lang="en-US" altLang="zh-SG" sz="2000" dirty="0"/>
              <a:t>Conclusion: Genetic Algorithm and Bayesian sampling (NUTS) do not improve fit quality under this model structure.</a:t>
            </a:r>
            <a:endParaRPr lang="zh-SG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CECB80B-E037-EFA8-CA5A-5F2B92191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00" y="0"/>
            <a:ext cx="5400000" cy="30375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B6C7F66-59EB-E3B0-C2A4-4B668B1531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00" y="3820499"/>
            <a:ext cx="5400000" cy="303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02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83403D-FECC-871B-9E31-5B7E9910C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Structural ablation</a:t>
            </a:r>
            <a:endParaRPr lang="zh-SG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61C6D4-37E6-C79A-2A9E-BF65A994E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318324"/>
            <a:ext cx="5976000" cy="33698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12ECAA7-A39D-637C-434E-AB82119253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004" y="1318324"/>
            <a:ext cx="5976000" cy="3984000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C6D0C1F9-3662-628F-EB45-9AFFFAD8D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1" y="4787200"/>
            <a:ext cx="2921000" cy="394400"/>
          </a:xfrm>
        </p:spPr>
        <p:txBody>
          <a:bodyPr>
            <a:normAutofit/>
          </a:bodyPr>
          <a:lstStyle/>
          <a:p>
            <a:r>
              <a:rPr lang="en-US" altLang="zh-SG" sz="2000" dirty="0"/>
              <a:t>Pure analytical method</a:t>
            </a:r>
            <a:endParaRPr lang="zh-SG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135A4E-5E2D-8CB1-B494-C4620BA49CF7}"/>
              </a:ext>
            </a:extLst>
          </p:cNvPr>
          <p:cNvSpPr txBox="1"/>
          <p:nvPr/>
        </p:nvSpPr>
        <p:spPr>
          <a:xfrm>
            <a:off x="8470900" y="5302324"/>
            <a:ext cx="1873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SG" dirty="0"/>
              <a:t>Pure Fit Method</a:t>
            </a:r>
            <a:endParaRPr lang="zh-SG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F4588EA-1696-A4D6-BA7A-99A881539F6A}"/>
              </a:ext>
            </a:extLst>
          </p:cNvPr>
          <p:cNvSpPr txBox="1"/>
          <p:nvPr/>
        </p:nvSpPr>
        <p:spPr>
          <a:xfrm>
            <a:off x="3048000" y="609276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SG" sz="2000" dirty="0"/>
              <a:t>Performance very poor; no further comparison needed</a:t>
            </a:r>
            <a:endParaRPr lang="zh-SG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0781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6F6E5-4EF3-9962-B3F7-4E60E33CE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MLP-1: In-band Interpolation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752048-8BD9-A407-7436-7D6F9E306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0" y="1690688"/>
            <a:ext cx="426085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altLang="zh-SG" dirty="0"/>
              <a:t>Setup</a:t>
            </a:r>
          </a:p>
          <a:p>
            <a:r>
              <a:rPr lang="en-US" altLang="zh-SG" dirty="0"/>
              <a:t>Train on sparse points across entire band</a:t>
            </a:r>
          </a:p>
          <a:p>
            <a:r>
              <a:rPr lang="en-US" altLang="zh-SG" dirty="0"/>
              <a:t>Test on remaining points</a:t>
            </a:r>
          </a:p>
          <a:p>
            <a:endParaRPr lang="en-US" altLang="zh-SG" dirty="0"/>
          </a:p>
          <a:p>
            <a:r>
              <a:rPr lang="en-US" altLang="zh-SG" dirty="0"/>
              <a:t>Result</a:t>
            </a:r>
          </a:p>
          <a:p>
            <a:r>
              <a:rPr lang="en-US" altLang="zh-SG" dirty="0"/>
              <a:t>✔ Good fit in low/mid frequency</a:t>
            </a:r>
          </a:p>
          <a:p>
            <a:r>
              <a:rPr lang="en-US" altLang="zh-SG" dirty="0"/>
              <a:t>✘ High-frequency details are smoothed</a:t>
            </a:r>
          </a:p>
          <a:p>
            <a:endParaRPr lang="en-US" altLang="zh-SG" dirty="0"/>
          </a:p>
          <a:p>
            <a:r>
              <a:rPr lang="en-US" altLang="zh-SG" dirty="0"/>
              <a:t>Insight</a:t>
            </a:r>
          </a:p>
          <a:p>
            <a:r>
              <a:rPr lang="en-US" altLang="zh-SG" dirty="0"/>
              <a:t>MLP learns global trend, but suppresses high-curvature structures.</a:t>
            </a:r>
            <a:endParaRPr lang="zh-SG" altLang="en-US" dirty="0"/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4B5B5D4D-48F8-1EF3-D08F-3157CDBAF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0188"/>
            <a:ext cx="6812757" cy="454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05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CDFAE-3B6A-B670-05D7-A257DAC74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8908C-ECA6-A018-6CCE-599C1312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MLP-2: Cross-band Extrapolation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4990F2-EA8E-2F7C-4EB7-4F586AE36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1600" y="1690688"/>
            <a:ext cx="426085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altLang="zh-SG" dirty="0"/>
              <a:t>Setup</a:t>
            </a:r>
          </a:p>
          <a:p>
            <a:r>
              <a:rPr lang="en-US" altLang="zh-SG" dirty="0"/>
              <a:t>Train: 10 Hz – 1e7 Hz</a:t>
            </a:r>
          </a:p>
          <a:p>
            <a:r>
              <a:rPr lang="en-US" altLang="zh-SG" dirty="0"/>
              <a:t>Test: 1e7 – 1e8 Hz</a:t>
            </a:r>
          </a:p>
          <a:p>
            <a:r>
              <a:rPr lang="en-US" altLang="zh-SG" dirty="0"/>
              <a:t>Observation</a:t>
            </a:r>
          </a:p>
          <a:p>
            <a:r>
              <a:rPr lang="en-US" altLang="zh-SG" dirty="0"/>
              <a:t>✔ Phase trend (upturn) extrapolated correctly</a:t>
            </a:r>
          </a:p>
          <a:p>
            <a:r>
              <a:rPr lang="en-US" altLang="zh-SG" dirty="0"/>
              <a:t>✘ High-frequency resonant structures not recovered</a:t>
            </a:r>
          </a:p>
          <a:p>
            <a:r>
              <a:rPr lang="en-US" altLang="zh-SG" dirty="0"/>
              <a:t>✘ Magnitude dip underestimated</a:t>
            </a:r>
          </a:p>
          <a:p>
            <a:r>
              <a:rPr lang="en-US" altLang="zh-SG" dirty="0"/>
              <a:t>Interpretation</a:t>
            </a:r>
          </a:p>
          <a:p>
            <a:r>
              <a:rPr lang="en-US" altLang="zh-SG" dirty="0"/>
              <a:t>MLP performs smooth extrapolation</a:t>
            </a:r>
          </a:p>
          <a:p>
            <a:r>
              <a:rPr lang="en-US" altLang="zh-SG" dirty="0"/>
              <a:t>but cannot generate new high-frequency dynamics.</a:t>
            </a: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47FFFA26-2101-3F14-BD26-B9858B3DC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744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BF3FD-78A6-4D44-0EB5-EDEC12185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Future Work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179F5D-EDF0-BACB-0090-AA2921A61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7224"/>
            <a:ext cx="5556250" cy="4740275"/>
          </a:xfrm>
        </p:spPr>
        <p:txBody>
          <a:bodyPr>
            <a:normAutofit/>
          </a:bodyPr>
          <a:lstStyle/>
          <a:p>
            <a:r>
              <a:rPr lang="en-US" altLang="zh-SG" sz="2000" dirty="0"/>
              <a:t>1️⃣ Reproduce 1–2 SOTA Approaches</a:t>
            </a:r>
          </a:p>
          <a:p>
            <a:r>
              <a:rPr lang="en-US" altLang="zh-SG" sz="2000" dirty="0"/>
              <a:t>2️⃣ Experimental Validation of Model Interpretability</a:t>
            </a:r>
          </a:p>
          <a:p>
            <a:r>
              <a:rPr lang="en-US" altLang="zh-SG" sz="2000" dirty="0"/>
              <a:t>Approach A — Cross-Power Prediction</a:t>
            </a:r>
          </a:p>
          <a:p>
            <a:r>
              <a:rPr lang="en-US" altLang="zh-SG" sz="2000" dirty="0"/>
              <a:t>Fit the model using Dataset 1 (Power Level 1)</a:t>
            </a:r>
          </a:p>
          <a:p>
            <a:r>
              <a:rPr lang="en-US" altLang="zh-SG" sz="2000" dirty="0"/>
              <a:t>Only adjust parameters theoretically dependent on power</a:t>
            </a:r>
          </a:p>
          <a:p>
            <a:r>
              <a:rPr lang="en-US" altLang="zh-SG" sz="2000" dirty="0"/>
              <a:t>Predict Dataset 2 (Power Level 2)</a:t>
            </a:r>
          </a:p>
          <a:p>
            <a:r>
              <a:rPr lang="en-US" altLang="zh-SG" sz="2000" dirty="0"/>
              <a:t>Evaluate predictive consistency</a:t>
            </a:r>
          </a:p>
          <a:p>
            <a:r>
              <a:rPr lang="en-US" altLang="zh-SG" sz="2000" dirty="0"/>
              <a:t>→ Tests whether parameters retain physical meaning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57DB4A-00A3-1CDC-F1CD-9FE2F6E96130}"/>
              </a:ext>
            </a:extLst>
          </p:cNvPr>
          <p:cNvSpPr txBox="1"/>
          <p:nvPr/>
        </p:nvSpPr>
        <p:spPr>
          <a:xfrm>
            <a:off x="6394450" y="1927224"/>
            <a:ext cx="5257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SG" sz="2000" dirty="0"/>
              <a:t>Approach B — Parameter Sensitivity Analysis</a:t>
            </a:r>
          </a:p>
          <a:p>
            <a:r>
              <a:rPr lang="en-US" altLang="zh-SG" sz="2000" dirty="0"/>
              <a:t>Fit independently on Dataset 1 and Dataset 2</a:t>
            </a:r>
          </a:p>
          <a:p>
            <a:r>
              <a:rPr lang="en-US" altLang="zh-SG" sz="2000" dirty="0"/>
              <a:t>Analyze parameter variations vs. power level</a:t>
            </a:r>
          </a:p>
          <a:p>
            <a:r>
              <a:rPr lang="en-US" altLang="zh-SG" sz="2000" dirty="0"/>
              <a:t>Check consistency with expected physical mechanisms</a:t>
            </a:r>
          </a:p>
          <a:p>
            <a:r>
              <a:rPr lang="en-US" altLang="zh-SG" sz="2000" dirty="0"/>
              <a:t>→ If parameter trends align with physical behavior,</a:t>
            </a:r>
          </a:p>
          <a:p>
            <a:r>
              <a:rPr lang="en-US" altLang="zh-SG" sz="2000" dirty="0"/>
              <a:t>the model demonstrates stronger interpretability.</a:t>
            </a:r>
            <a:endParaRPr lang="zh-SG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61474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758</Words>
  <Application>Microsoft Office PowerPoint</Application>
  <PresentationFormat>宽屏</PresentationFormat>
  <Paragraphs>88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主题​​</vt:lpstr>
      <vt:lpstr>2026.3.3</vt:lpstr>
      <vt:lpstr>Recent Work Summary</vt:lpstr>
      <vt:lpstr>Current Method </vt:lpstr>
      <vt:lpstr>Initial version</vt:lpstr>
      <vt:lpstr>NUTS</vt:lpstr>
      <vt:lpstr>GA</vt:lpstr>
      <vt:lpstr>Algorithm Comparison</vt:lpstr>
      <vt:lpstr>Structural ablation</vt:lpstr>
      <vt:lpstr>MLP-1: In-band Interpolation</vt:lpstr>
      <vt:lpstr>MLP-2: Cross-band Extrapolation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Fengyifei Xu</dc:creator>
  <cp:lastModifiedBy>Fengyifei Xu</cp:lastModifiedBy>
  <cp:revision>1</cp:revision>
  <dcterms:created xsi:type="dcterms:W3CDTF">2026-03-03T14:45:05Z</dcterms:created>
  <dcterms:modified xsi:type="dcterms:W3CDTF">2026-03-03T16:43:41Z</dcterms:modified>
</cp:coreProperties>
</file>