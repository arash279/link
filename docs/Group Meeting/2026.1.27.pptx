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AF8F5ED-7069-4C54-A24C-CBE64C20B14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A4C554-BD61-4B6D-6E42-DA15EDB92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CC8F01-7FFA-3907-8C00-343C4EF4F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E4D609-F795-232E-2EBD-D4E593455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71D02E-4450-09EE-F7A2-162BC684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2234EE-555B-3DAB-75F7-44D9A1A9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285089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C892E-C749-C3D3-BFD5-9F1621196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3D5578-F363-BCF8-45A9-8BC888035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88885E-D78E-4310-E831-24A3D4149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BCCC04-85CB-6714-C7F7-DF26798E5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B70539-A039-47A7-473C-29FF37DD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23744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6EA02B-EBC3-613B-D40B-9E9C6FBF8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CB7B5A-5BDC-92F8-75CB-91D467F3C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F8B3E4-CC84-B0A9-D13F-182279B58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5F7A7D-EB44-DFCB-036A-5B47B481E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7AA7FD-72AB-E5FD-EA88-D325947E5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592049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086F11-6DA5-E0A5-B489-A0635210B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81D420-DFE6-6DFD-51FF-17E215966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0F086E-7217-F676-3307-6C0139B62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C1D3C4-8798-6761-3CA4-F61CE1D72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8BA5DE-A306-6AB7-4427-FDCB1DD57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70E2F7-0405-3CB6-60E7-7CABCB39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52640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6A307-AB31-5620-9B86-F9B70C52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9E2F86-11E8-44AB-22E2-DCB25A0DC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7D41A3-F0D9-3A04-2EE7-B5A30F5FC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77C21C-0F6C-9BA3-3EF7-8E2273B10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5F35ED-8B8E-BAE4-BFA3-0C8C0BF0E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BFC5C2E-D394-6409-0836-3736DBEBA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5B2903-0D5C-F71D-4946-19226499F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C2040C7-0466-062B-2FB2-08B447044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261754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77E26-CAC2-D61B-20B1-28F9541DA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99F44C-2D47-FEC9-58C3-834547533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A9F1D6-BD9E-AB91-0381-538E15975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C5FEED-C6AA-5BE3-DB0C-91CE94C0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78050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7AA4E3-A2FA-C92A-2EE9-90434D0A0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B2A8BD-67D9-B40B-0443-189D18818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AA4C7B-404E-16AD-9862-C645CF4CF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49656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5CF87C-D59C-BAAC-AF74-F3CA8999D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2FD403-DAB5-9701-930E-045CD6B17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0A84BE-13F8-0222-BF79-6F7822551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45F02D-F8E3-590B-254F-0D54D82D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215FF2-3D3D-EDCA-984E-82397F126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C383F3-4F5B-0EFA-1472-F55E9779A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225751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DC6279-45B3-E29C-9A70-10CFDC877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C28F51-205C-4E93-A91A-46617018D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A2C8BE-5482-27E6-4D6C-73939F61B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39BB2F-288B-9845-836D-C36514279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913A8B-640C-8B95-9C75-4D8714DB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76287C-BD43-B27E-23DC-05BBABD9D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90827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709B69-682C-F149-0B7B-775299B1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467D30-4419-5DE2-EFF1-2E2077AB6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726D00-79C7-3E99-A5B5-618EB4CED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9ABA6B-567B-DDEA-FA9B-A598586E3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435EF1-4D7D-441E-FB30-E906BE023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927397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FD35DA-888A-0F40-46B8-51C7F53F26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88ECBA-79E3-6F65-E3ED-C4BA5F627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C89A43-7D19-20FC-E869-DCD2CABEF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1E3ABD-FB09-180A-0A63-B2C827A32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27168F-71A1-CCDC-EBD7-3E6EED1BD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3427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BA07A57-B848-8B75-3EF2-6F85F451B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96E560-D2AC-78D8-E72F-31E339B2C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03CF1C-BDCE-BA5D-56AB-77C581196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979D2-BE73-4D04-B6D3-8EC55C29E0AA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205B64-3EEF-5C40-62E2-0A7767D03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702B59-9C67-1888-83DD-575079754A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126324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1CC312-E5BC-5DF0-B615-1AC91D8C3A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SG" dirty="0"/>
              <a:t>2026.1.27</a:t>
            </a:r>
            <a:endParaRPr lang="zh-SG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00F506-8AB5-13F5-08F0-E95EF3786D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SG" dirty="0"/>
              <a:t>Group meeting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3158893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F817A2-57B0-A146-BE49-1DB66D256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SG" altLang="en-US"/>
          </a:p>
        </p:txBody>
      </p:sp>
      <p:pic>
        <p:nvPicPr>
          <p:cNvPr id="5" name="图片 4" descr="图示, 示意图&#10;&#10;AI 生成的内容可能不正确。">
            <a:extLst>
              <a:ext uri="{FF2B5EF4-FFF2-40B4-BE49-F238E27FC236}">
                <a16:creationId xmlns:a16="http://schemas.microsoft.com/office/drawing/2014/main" id="{05565375-1019-547B-CEF9-155A5B46B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280150" cy="3768090"/>
          </a:xfrm>
          <a:prstGeom prst="rect">
            <a:avLst/>
          </a:prstGeom>
        </p:spPr>
      </p:pic>
      <p:pic>
        <p:nvPicPr>
          <p:cNvPr id="7" name="图片 6" descr="图示, 示意图&#10;&#10;AI 生成的内容可能不正确。">
            <a:extLst>
              <a:ext uri="{FF2B5EF4-FFF2-40B4-BE49-F238E27FC236}">
                <a16:creationId xmlns:a16="http://schemas.microsoft.com/office/drawing/2014/main" id="{5C091701-076B-225C-BF46-7A41366F1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078" y="0"/>
            <a:ext cx="5809922" cy="4168911"/>
          </a:xfrm>
          <a:prstGeom prst="rect">
            <a:avLst/>
          </a:prstGeom>
        </p:spPr>
      </p:pic>
      <p:pic>
        <p:nvPicPr>
          <p:cNvPr id="9" name="图片 8" descr="图示, 示意图&#10;&#10;AI 生成的内容可能不正确。">
            <a:extLst>
              <a:ext uri="{FF2B5EF4-FFF2-40B4-BE49-F238E27FC236}">
                <a16:creationId xmlns:a16="http://schemas.microsoft.com/office/drawing/2014/main" id="{16874260-0E70-C0C1-B290-33D2C2D17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34624"/>
            <a:ext cx="2959100" cy="292337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1303114-A39A-C110-598C-7B72CB4A6705}"/>
              </a:ext>
            </a:extLst>
          </p:cNvPr>
          <p:cNvSpPr txBox="1"/>
          <p:nvPr/>
        </p:nvSpPr>
        <p:spPr>
          <a:xfrm>
            <a:off x="5893128" y="2761218"/>
            <a:ext cx="128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dirty="0"/>
              <a:t>1</a:t>
            </a:r>
            <a:endParaRPr lang="zh-SG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B7D314-8481-B277-BE94-9D8CDBA9E5B6}"/>
              </a:ext>
            </a:extLst>
          </p:cNvPr>
          <p:cNvSpPr txBox="1"/>
          <p:nvPr/>
        </p:nvSpPr>
        <p:spPr>
          <a:xfrm>
            <a:off x="11842750" y="3749958"/>
            <a:ext cx="34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dirty="0"/>
              <a:t>2</a:t>
            </a:r>
            <a:endParaRPr lang="zh-SG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5DCC779-D556-0483-762A-490A0E9459CB}"/>
              </a:ext>
            </a:extLst>
          </p:cNvPr>
          <p:cNvSpPr txBox="1"/>
          <p:nvPr/>
        </p:nvSpPr>
        <p:spPr>
          <a:xfrm>
            <a:off x="2609850" y="6462079"/>
            <a:ext cx="34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dirty="0"/>
              <a:t>3</a:t>
            </a:r>
            <a:endParaRPr lang="zh-SG" altLang="en-US" dirty="0"/>
          </a:p>
        </p:txBody>
      </p:sp>
      <p:pic>
        <p:nvPicPr>
          <p:cNvPr id="14" name="图片 13" descr="图示, 示意图&#10;&#10;AI 生成的内容可能不正确。">
            <a:extLst>
              <a:ext uri="{FF2B5EF4-FFF2-40B4-BE49-F238E27FC236}">
                <a16:creationId xmlns:a16="http://schemas.microsoft.com/office/drawing/2014/main" id="{61E10084-D510-9085-BBB0-05F30FF8F6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798" r="53039" b="11335"/>
          <a:stretch>
            <a:fillRect/>
          </a:stretch>
        </p:blipFill>
        <p:spPr>
          <a:xfrm>
            <a:off x="3140075" y="4231321"/>
            <a:ext cx="2428875" cy="262667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1A992D21-59B2-80C1-2769-99183371348A}"/>
              </a:ext>
            </a:extLst>
          </p:cNvPr>
          <p:cNvSpPr txBox="1"/>
          <p:nvPr/>
        </p:nvSpPr>
        <p:spPr>
          <a:xfrm>
            <a:off x="5219700" y="6492875"/>
            <a:ext cx="34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dirty="0"/>
              <a:t>4</a:t>
            </a:r>
            <a:endParaRPr lang="zh-SG" altLang="en-US" dirty="0"/>
          </a:p>
        </p:txBody>
      </p:sp>
      <p:pic>
        <p:nvPicPr>
          <p:cNvPr id="16" name="图片 15" descr="图示, 示意图&#10;&#10;AI 生成的内容可能不正确。">
            <a:extLst>
              <a:ext uri="{FF2B5EF4-FFF2-40B4-BE49-F238E27FC236}">
                <a16:creationId xmlns:a16="http://schemas.microsoft.com/office/drawing/2014/main" id="{D2D6904F-5661-C880-D277-191D858E29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961" b="60115"/>
          <a:stretch>
            <a:fillRect/>
          </a:stretch>
        </p:blipFill>
        <p:spPr>
          <a:xfrm>
            <a:off x="5708092" y="4782053"/>
            <a:ext cx="2870887" cy="1504702"/>
          </a:xfrm>
          <a:prstGeom prst="rect">
            <a:avLst/>
          </a:prstGeom>
        </p:spPr>
      </p:pic>
      <p:pic>
        <p:nvPicPr>
          <p:cNvPr id="17" name="内容占位符 16" descr="图示, 示意图&#10;&#10;AI 生成的内容可能不正确。">
            <a:extLst>
              <a:ext uri="{FF2B5EF4-FFF2-40B4-BE49-F238E27FC236}">
                <a16:creationId xmlns:a16="http://schemas.microsoft.com/office/drawing/2014/main" id="{AA1B8B28-5992-2469-5F1C-9C406A2346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l="47836" t="41596" r="8475"/>
          <a:stretch>
            <a:fillRect/>
          </a:stretch>
        </p:blipFill>
        <p:spPr>
          <a:xfrm>
            <a:off x="8666848" y="4469501"/>
            <a:ext cx="2563599" cy="2388499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289614C5-95C0-FB89-1520-D9F6D0F9BF84}"/>
              </a:ext>
            </a:extLst>
          </p:cNvPr>
          <p:cNvSpPr txBox="1"/>
          <p:nvPr/>
        </p:nvSpPr>
        <p:spPr>
          <a:xfrm>
            <a:off x="8266798" y="5946124"/>
            <a:ext cx="34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dirty="0"/>
              <a:t>5</a:t>
            </a:r>
            <a:endParaRPr lang="zh-SG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4A6BAED-4F6D-FAB0-7C28-1145213F5FDA}"/>
              </a:ext>
            </a:extLst>
          </p:cNvPr>
          <p:cNvSpPr txBox="1"/>
          <p:nvPr/>
        </p:nvSpPr>
        <p:spPr>
          <a:xfrm>
            <a:off x="10881197" y="6499663"/>
            <a:ext cx="34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dirty="0"/>
              <a:t>6</a:t>
            </a:r>
            <a:endParaRPr lang="zh-SG" altLang="en-US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61C822E-8930-700C-8A04-9F4DBB8774C7}"/>
              </a:ext>
            </a:extLst>
          </p:cNvPr>
          <p:cNvCxnSpPr/>
          <p:nvPr/>
        </p:nvCxnSpPr>
        <p:spPr>
          <a:xfrm>
            <a:off x="4711700" y="3505200"/>
            <a:ext cx="255814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27BD961-F492-BADC-050D-DFC4C47B2DC6}"/>
              </a:ext>
            </a:extLst>
          </p:cNvPr>
          <p:cNvCxnSpPr>
            <a:cxnSpLocks/>
          </p:cNvCxnSpPr>
          <p:nvPr/>
        </p:nvCxnSpPr>
        <p:spPr>
          <a:xfrm flipH="1">
            <a:off x="2563444" y="3674687"/>
            <a:ext cx="4783506" cy="45232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E1E43E2-A166-BF2F-C2A3-46406E185CB0}"/>
              </a:ext>
            </a:extLst>
          </p:cNvPr>
          <p:cNvCxnSpPr>
            <a:cxnSpLocks/>
          </p:cNvCxnSpPr>
          <p:nvPr/>
        </p:nvCxnSpPr>
        <p:spPr>
          <a:xfrm>
            <a:off x="2609850" y="4362450"/>
            <a:ext cx="80010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889CDAB-BEA5-1B50-D642-6BC3D8F44BE2}"/>
              </a:ext>
            </a:extLst>
          </p:cNvPr>
          <p:cNvCxnSpPr>
            <a:cxnSpLocks/>
          </p:cNvCxnSpPr>
          <p:nvPr/>
        </p:nvCxnSpPr>
        <p:spPr>
          <a:xfrm>
            <a:off x="5446697" y="4914900"/>
            <a:ext cx="44643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D2D5488-AB2B-D26C-D511-68A33F593D63}"/>
              </a:ext>
            </a:extLst>
          </p:cNvPr>
          <p:cNvCxnSpPr>
            <a:cxnSpLocks/>
          </p:cNvCxnSpPr>
          <p:nvPr/>
        </p:nvCxnSpPr>
        <p:spPr>
          <a:xfrm>
            <a:off x="8519195" y="5162550"/>
            <a:ext cx="44643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705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097CC-87EA-4785-8275-E373543B2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8650" cy="1325563"/>
          </a:xfrm>
        </p:spPr>
        <p:txBody>
          <a:bodyPr/>
          <a:lstStyle/>
          <a:p>
            <a:r>
              <a:rPr lang="en-US" altLang="zh-SG" dirty="0"/>
              <a:t>Attempts to Correct the 10⁷–10⁸ Hz Impedance Behavior</a:t>
            </a:r>
            <a:endParaRPr lang="zh-SG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8B71E5C-98B4-62B6-2115-93B38ACA75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SG" b="1" dirty="0"/>
                  <a:t>Goal</a:t>
                </a:r>
                <a:endParaRPr lang="en-US" altLang="zh-SG" dirty="0"/>
              </a:p>
              <a:p>
                <a:r>
                  <a:rPr lang="en-US" altLang="zh-SG" dirty="0"/>
                  <a:t>Modify the equivalent circuit to recover the measured </a:t>
                </a:r>
                <a:r>
                  <a:rPr lang="en-US" altLang="zh-SG" b="1" dirty="0"/>
                  <a:t>capacitive trend</a:t>
                </a:r>
                <a:r>
                  <a:rPr lang="en-US" altLang="zh-SG" dirty="0"/>
                  <a:t> in the ultra-high-frequency band.</a:t>
                </a:r>
              </a:p>
              <a:p>
                <a:r>
                  <a:rPr lang="en-US" altLang="zh-SG" b="1" dirty="0"/>
                  <a:t>Strategy</a:t>
                </a:r>
                <a:endParaRPr lang="en-US" altLang="zh-SG" dirty="0"/>
              </a:p>
              <a:p>
                <a:r>
                  <a:rPr lang="en-US" altLang="zh-SG" dirty="0"/>
                  <a:t>Introduce an additional capacitor </a:t>
                </a:r>
                <a:r>
                  <a:rPr lang="en-US" altLang="zh-SG" b="1" dirty="0"/>
                  <a:t>Cad</a:t>
                </a:r>
                <a:r>
                  <a:rPr lang="en-US" altLang="zh-SG" dirty="0"/>
                  <a:t> at different grounding locations.</a:t>
                </a:r>
              </a:p>
              <a:p>
                <a:r>
                  <a:rPr lang="en-US" altLang="zh-SG" b="1" dirty="0"/>
                  <a:t>Attempt 1: Cad in Parallel with </a:t>
                </a:r>
                <a:r>
                  <a:rPr lang="en-US" altLang="zh-SG" b="1" dirty="0" err="1"/>
                  <a:t>Csf</a:t>
                </a:r>
                <a:r>
                  <a:rPr lang="en-US" altLang="zh-SG" b="1" dirty="0"/>
                  <a:t>₀ (Neutral–GND)</a:t>
                </a:r>
              </a:p>
              <a:p>
                <a:r>
                  <a:rPr lang="en-US" altLang="zh-SG" dirty="0"/>
                  <a:t>Cad connected </a:t>
                </a:r>
                <a:r>
                  <a:rPr lang="en-US" altLang="zh-SG" b="1" dirty="0"/>
                  <a:t>in parallel with </a:t>
                </a:r>
                <a:r>
                  <a:rPr lang="en-US" altLang="zh-SG" b="1" dirty="0" err="1"/>
                  <a:t>Csf</a:t>
                </a:r>
                <a:r>
                  <a:rPr lang="en-US" altLang="zh-SG" b="1" dirty="0"/>
                  <a:t>₀</a:t>
                </a:r>
                <a:endParaRPr lang="en-US" altLang="zh-SG" dirty="0"/>
              </a:p>
              <a:p>
                <a:r>
                  <a:rPr lang="en-US" altLang="zh-SG" dirty="0"/>
                  <a:t>Effective location: </a:t>
                </a:r>
                <a:r>
                  <a:rPr lang="el-GR" altLang="zh-SG" dirty="0"/>
                  <a:t>Δ-</a:t>
                </a:r>
                <a:r>
                  <a:rPr lang="en-US" altLang="zh-SG" dirty="0"/>
                  <a:t>network </a:t>
                </a:r>
                <a:r>
                  <a:rPr lang="en-US" altLang="zh-SG" b="1" dirty="0"/>
                  <a:t>b–c edge</a:t>
                </a:r>
                <a:endParaRPr lang="en-US" altLang="zh-SG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zh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SG" alt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ar-AE" altLang="zh-SG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 altLang="zh-SG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altLang="zh-SG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altLang="zh-SG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zh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SG" alt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ar-AE" altLang="zh-SG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altLang="zh-SG">
                        <a:latin typeface="Cambria Math" panose="02040503050406030204" pitchFamily="18" charset="0"/>
                      </a:rPr>
                      <m:t>∥</m:t>
                    </m:r>
                    <m:r>
                      <a:rPr lang="ar-AE" altLang="zh-SG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zh-SG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SG"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ar-AE" altLang="zh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SG" alt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ar-AE" altLang="zh-SG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altLang="zh-SG">
                        <a:latin typeface="Cambria Math" panose="02040503050406030204" pitchFamily="18" charset="0"/>
                      </a:rPr>
                      <m:t>∥</m:t>
                    </m:r>
                    <m:d>
                      <m:dPr>
                        <m:ctrlPr>
                          <a:rPr lang="ar-AE" altLang="zh-S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SG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SG" alt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SG" altLang="ar-AE" i="1">
                                <a:latin typeface="Cambria Math" panose="02040503050406030204" pitchFamily="18" charset="0"/>
                              </a:rPr>
                              <m:t>𝑠𝑓</m:t>
                            </m:r>
                            <m:r>
                              <a:rPr lang="ar-AE" altLang="zh-SG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ar-AE" altLang="zh-SG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altLang="zh-SG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SG" alt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SG" altLang="ar-AE" i="1">
                                <a:latin typeface="Cambria Math" panose="02040503050406030204" pitchFamily="18" charset="0"/>
                              </a:rPr>
                              <m:t>𝑎𝑑</m:t>
                            </m:r>
                          </m:sub>
                        </m:sSub>
                      </m:e>
                    </m:d>
                  </m:oMath>
                </a14:m>
                <a:endParaRPr lang="ar-AE" altLang="zh-SG" dirty="0"/>
              </a:p>
              <a:p>
                <a:endParaRPr lang="zh-SG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8B71E5C-98B4-62B6-2115-93B38ACA75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507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图示, 示意图&#10;&#10;AI 生成的内容可能不正确。">
            <a:extLst>
              <a:ext uri="{FF2B5EF4-FFF2-40B4-BE49-F238E27FC236}">
                <a16:creationId xmlns:a16="http://schemas.microsoft.com/office/drawing/2014/main" id="{79089A24-96F0-B5A4-0DA1-CEC958AE7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100" y="4024800"/>
            <a:ext cx="3130550" cy="271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74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7348F-166D-485F-127D-13CD4CFB2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SG" dirty="0"/>
              <a:t>Attempt 1: Cad in Parallel with </a:t>
            </a:r>
            <a:r>
              <a:rPr lang="en-US" altLang="zh-SG" dirty="0" err="1"/>
              <a:t>Csf</a:t>
            </a:r>
            <a:r>
              <a:rPr lang="en-US" altLang="zh-SG" dirty="0"/>
              <a:t>₀ (Neutral–GND)</a:t>
            </a:r>
            <a:br>
              <a:rPr lang="en-US" altLang="zh-SG" b="1" dirty="0"/>
            </a:br>
            <a:endParaRPr lang="zh-SG" altLang="en-US" dirty="0"/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482EB98B-24D3-B758-4D33-2DE52F7716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0754661"/>
              </p:ext>
            </p:extLst>
          </p:nvPr>
        </p:nvGraphicFramePr>
        <p:xfrm>
          <a:off x="838200" y="1142048"/>
          <a:ext cx="5435600" cy="14630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58900">
                  <a:extLst>
                    <a:ext uri="{9D8B030D-6E8A-4147-A177-3AD203B41FA5}">
                      <a16:colId xmlns:a16="http://schemas.microsoft.com/office/drawing/2014/main" val="3694984522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480229437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1425029297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5391807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|Z4₀|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|Z6|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|Z5|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7401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1e−12 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1.078 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1.071 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9.68e−3 </a:t>
                      </a:r>
                      <a:r>
                        <a:rPr lang="el-GR"/>
                        <a:t>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986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1.78e−7 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4.30e−2 </a:t>
                      </a:r>
                      <a:r>
                        <a:rPr lang="el-GR"/>
                        <a:t>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4.27e−2 </a:t>
                      </a:r>
                      <a:r>
                        <a:rPr lang="el-GR" dirty="0"/>
                        <a:t>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3.86e−4 </a:t>
                      </a:r>
                      <a:r>
                        <a:rPr lang="el-GR"/>
                        <a:t>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040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1e2 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7.96e−11 </a:t>
                      </a:r>
                      <a:r>
                        <a:rPr lang="el-GR"/>
                        <a:t>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7.91e−11 </a:t>
                      </a:r>
                      <a:r>
                        <a:rPr lang="el-GR"/>
                        <a:t>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7.14e−13 </a:t>
                      </a:r>
                      <a:r>
                        <a:rPr lang="el-GR" dirty="0"/>
                        <a:t>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3275781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E7B70AF6-7F7A-1A7D-63E0-283705093930}"/>
              </a:ext>
            </a:extLst>
          </p:cNvPr>
          <p:cNvSpPr txBox="1"/>
          <p:nvPr/>
        </p:nvSpPr>
        <p:spPr>
          <a:xfrm>
            <a:off x="838200" y="256396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SG" b="1" dirty="0"/>
              <a:t>Observation</a:t>
            </a:r>
            <a:endParaRPr lang="en-US" altLang="zh-S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SG" dirty="0"/>
              <a:t>Z6 changes from ~1 </a:t>
            </a:r>
            <a:r>
              <a:rPr lang="el-GR" altLang="zh-SG" dirty="0"/>
              <a:t>Ω → ~1</a:t>
            </a:r>
            <a:r>
              <a:rPr lang="en-US" altLang="zh-SG" dirty="0"/>
              <a:t>e−10 </a:t>
            </a:r>
            <a:r>
              <a:rPr lang="el-GR" altLang="zh-SG" dirty="0"/>
              <a:t>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SG" dirty="0"/>
              <a:t>Z5 changes from ~1e−2 </a:t>
            </a:r>
            <a:r>
              <a:rPr lang="el-GR" altLang="zh-SG" dirty="0"/>
              <a:t>Ω → ~1</a:t>
            </a:r>
            <a:r>
              <a:rPr lang="en-US" altLang="zh-SG" dirty="0"/>
              <a:t>e−12 </a:t>
            </a:r>
            <a:r>
              <a:rPr lang="el-GR" altLang="zh-SG" dirty="0"/>
              <a:t>Ω</a:t>
            </a:r>
            <a:r>
              <a:rPr lang="en-US" altLang="zh-SG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l-GR" altLang="zh-SG" dirty="0"/>
              <a:t>→ </a:t>
            </a:r>
            <a:r>
              <a:rPr lang="en-US" altLang="zh-SG" b="1" dirty="0"/>
              <a:t>Huge local variation</a:t>
            </a:r>
            <a:endParaRPr lang="en-US" altLang="zh-SG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198CD04-A2D0-070A-34AE-8CB361629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69469"/>
              </p:ext>
            </p:extLst>
          </p:nvPr>
        </p:nvGraphicFramePr>
        <p:xfrm>
          <a:off x="838200" y="3723164"/>
          <a:ext cx="5715000" cy="109728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798362134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1929744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Magnitude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06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|Z1|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4.14 kΩ → 0.5·Z1 ≈ 2069 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902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|Z2|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37.38 Ω → 0.5·Z2 ≈ 18.7 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97911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2CA0951-3A4B-224A-A5AE-A86DA58D85D7}"/>
                  </a:ext>
                </a:extLst>
              </p:cNvPr>
              <p:cNvSpPr txBox="1"/>
              <p:nvPr/>
            </p:nvSpPr>
            <p:spPr>
              <a:xfrm>
                <a:off x="838200" y="4820444"/>
                <a:ext cx="6096000" cy="2051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SG" b="1" dirty="0"/>
                  <a:t>Combination structure</a:t>
                </a:r>
                <a:endParaRPr lang="en-US" altLang="zh-SG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S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SG" altLang="ar-A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SG" b="0" i="1">
                              <a:latin typeface="Cambria Math" panose="02040503050406030204" pitchFamily="18" charset="0"/>
                            </a:rPr>
                            <m:t>total</m:t>
                          </m:r>
                        </m:sub>
                      </m:sSub>
                      <m:r>
                        <a:rPr lang="ar-AE" altLang="zh-SG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altLang="zh-SG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SG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SG" altLang="ar-AE" b="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ar-AE" altLang="zh-SG" b="0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5</m:t>
                          </m:r>
                          <m:sSub>
                            <m:sSubPr>
                              <m:ctrlPr>
                                <a:rPr lang="ar-AE" altLang="zh-SG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SG" altLang="ar-AE" b="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ar-AE" altLang="zh-SG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altLang="zh-SG" b="0" i="0">
                          <a:latin typeface="Cambria Math" panose="02040503050406030204" pitchFamily="18" charset="0"/>
                        </a:rPr>
                        <m:t>∥</m:t>
                      </m:r>
                      <m:d>
                        <m:dPr>
                          <m:ctrlPr>
                            <a:rPr lang="ar-AE" altLang="zh-SG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SG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SG" altLang="ar-AE" b="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ar-AE" altLang="zh-SG" b="0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5</m:t>
                          </m:r>
                          <m:sSub>
                            <m:sSubPr>
                              <m:ctrlPr>
                                <a:rPr lang="ar-AE" altLang="zh-SG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SG" altLang="ar-AE" b="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ar-AE" altLang="zh-SG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altLang="zh-SG" b="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SG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SG" altLang="ar-AE" b="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ar-AE" altLang="zh-SG" b="0" dirty="0"/>
              </a:p>
              <a:p>
                <a:pPr>
                  <a:buNone/>
                </a:pPr>
                <a:r>
                  <a:rPr lang="en-US" altLang="zh-SG" b="1" dirty="0"/>
                  <a:t>Conclusion</a:t>
                </a:r>
                <a:endParaRPr lang="en-US" altLang="zh-SG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SG" dirty="0"/>
                  <a:t>Z6 is always added to </a:t>
                </a:r>
                <a:r>
                  <a:rPr lang="en-US" altLang="zh-SG" b="1" dirty="0"/>
                  <a:t>~2000 </a:t>
                </a:r>
                <a:r>
                  <a:rPr lang="el-GR" altLang="zh-SG" b="1" dirty="0"/>
                  <a:t>Ω</a:t>
                </a:r>
                <a:endParaRPr lang="el-GR" altLang="zh-SG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SG" dirty="0"/>
                  <a:t>Z5 is always added to </a:t>
                </a:r>
                <a:r>
                  <a:rPr lang="en-US" altLang="zh-SG" b="1" dirty="0"/>
                  <a:t>~18.7 </a:t>
                </a:r>
                <a:r>
                  <a:rPr lang="el-GR" altLang="zh-SG" b="1" dirty="0"/>
                  <a:t>Ω</a:t>
                </a:r>
                <a:endParaRPr lang="el-GR" altLang="zh-SG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SG" dirty="0"/>
                  <a:t>Their changes are </a:t>
                </a:r>
                <a:r>
                  <a:rPr lang="en-US" altLang="zh-SG" b="1" dirty="0"/>
                  <a:t>numerically negligible</a:t>
                </a:r>
                <a:endParaRPr lang="en-US" altLang="zh-SG" dirty="0"/>
              </a:p>
              <a:p>
                <a:pPr>
                  <a:buNone/>
                </a:pPr>
                <a:r>
                  <a:rPr lang="en-US" altLang="zh-SG" dirty="0"/>
                  <a:t>* Cad is </a:t>
                </a:r>
                <a:r>
                  <a:rPr lang="en-US" altLang="zh-SG" b="1" dirty="0"/>
                  <a:t>completely buried</a:t>
                </a:r>
                <a:r>
                  <a:rPr lang="en-US" altLang="zh-SG" dirty="0"/>
                  <a:t> by large series terms.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2CA0951-3A4B-224A-A5AE-A86DA58D8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20444"/>
                <a:ext cx="6096000" cy="2051074"/>
              </a:xfrm>
              <a:prstGeom prst="rect">
                <a:avLst/>
              </a:prstGeom>
              <a:blipFill>
                <a:blip r:embed="rId2"/>
                <a:stretch>
                  <a:fillRect l="-900" t="-1786" b="-3869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4D8578F2-58AE-B4AF-DC87-88553197A4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596" y="983154"/>
            <a:ext cx="5193154" cy="292926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0E6F4C4-5D64-B1D9-FBD6-D345696FA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596" y="3942254"/>
            <a:ext cx="5193154" cy="292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81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1FE75-BF9C-0545-7787-1433E9CCE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Attempt 2: Cad between Phases and Frame (A,B,C → GND)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14037A-2FCC-FF4A-9136-2C28376DB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SG" sz="2000" b="1" dirty="0"/>
              <a:t>Topology</a:t>
            </a:r>
            <a:endParaRPr lang="en-US" altLang="zh-SG" sz="2000" dirty="0"/>
          </a:p>
          <a:p>
            <a:r>
              <a:rPr lang="en-US" altLang="zh-SG" sz="2000" dirty="0"/>
              <a:t>Cad connected in </a:t>
            </a:r>
            <a:r>
              <a:rPr lang="en-US" altLang="zh-SG" sz="2000" b="1" dirty="0"/>
              <a:t>series with </a:t>
            </a:r>
            <a:r>
              <a:rPr lang="en-US" altLang="zh-SG" sz="2000" b="1" dirty="0" err="1"/>
              <a:t>Csf</a:t>
            </a:r>
            <a:r>
              <a:rPr lang="en-US" altLang="zh-SG" sz="2000" b="1" dirty="0"/>
              <a:t>₀</a:t>
            </a:r>
            <a:endParaRPr lang="en-US" altLang="zh-SG" sz="2000" dirty="0"/>
          </a:p>
          <a:p>
            <a:r>
              <a:rPr lang="en-US" altLang="zh-SG" sz="2000" dirty="0"/>
              <a:t>Location: common stator–frame path</a:t>
            </a:r>
          </a:p>
          <a:p>
            <a:endParaRPr lang="zh-SG" altLang="en-US" dirty="0"/>
          </a:p>
        </p:txBody>
      </p:sp>
      <p:pic>
        <p:nvPicPr>
          <p:cNvPr id="5" name="图片 4" descr="图示, 示意图&#10;&#10;AI 生成的内容可能不正确。">
            <a:extLst>
              <a:ext uri="{FF2B5EF4-FFF2-40B4-BE49-F238E27FC236}">
                <a16:creationId xmlns:a16="http://schemas.microsoft.com/office/drawing/2014/main" id="{BC667D62-086A-9883-8322-8F07D7F92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503" y="3875393"/>
            <a:ext cx="2863997" cy="2857647"/>
          </a:xfrm>
          <a:prstGeom prst="rect">
            <a:avLst/>
          </a:prstGeom>
        </p:spPr>
      </p:pic>
      <p:pic>
        <p:nvPicPr>
          <p:cNvPr id="6" name="图片 5" descr="图示, 示意图&#10;&#10;AI 生成的内容可能不正确。">
            <a:extLst>
              <a:ext uri="{FF2B5EF4-FFF2-40B4-BE49-F238E27FC236}">
                <a16:creationId xmlns:a16="http://schemas.microsoft.com/office/drawing/2014/main" id="{9A8018EA-AF25-C4A5-D086-BF6A9FD2C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950" y="1027906"/>
            <a:ext cx="3130550" cy="2712550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C0E418D-BE41-C05B-9F97-4341E2CCD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207520"/>
              </p:ext>
            </p:extLst>
          </p:nvPr>
        </p:nvGraphicFramePr>
        <p:xfrm>
          <a:off x="838200" y="3008936"/>
          <a:ext cx="4591052" cy="14630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147763">
                  <a:extLst>
                    <a:ext uri="{9D8B030D-6E8A-4147-A177-3AD203B41FA5}">
                      <a16:colId xmlns:a16="http://schemas.microsoft.com/office/drawing/2014/main" val="2560752461"/>
                    </a:ext>
                  </a:extLst>
                </a:gridCol>
                <a:gridCol w="1147763">
                  <a:extLst>
                    <a:ext uri="{9D8B030D-6E8A-4147-A177-3AD203B41FA5}">
                      <a16:colId xmlns:a16="http://schemas.microsoft.com/office/drawing/2014/main" val="2960615861"/>
                    </a:ext>
                  </a:extLst>
                </a:gridCol>
                <a:gridCol w="1147763">
                  <a:extLst>
                    <a:ext uri="{9D8B030D-6E8A-4147-A177-3AD203B41FA5}">
                      <a16:colId xmlns:a16="http://schemas.microsoft.com/office/drawing/2014/main" val="2220423345"/>
                    </a:ext>
                  </a:extLst>
                </a:gridCol>
                <a:gridCol w="1147763">
                  <a:extLst>
                    <a:ext uri="{9D8B030D-6E8A-4147-A177-3AD203B41FA5}">
                      <a16:colId xmlns:a16="http://schemas.microsoft.com/office/drawing/2014/main" val="10492610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|Z4₀|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|Z6|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|Z5|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1450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1e−12 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7.96 k</a:t>
                      </a:r>
                      <a:r>
                        <a:rPr lang="el-GR"/>
                        <a:t>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3.66 k</a:t>
                      </a:r>
                      <a:r>
                        <a:rPr lang="el-GR"/>
                        <a:t>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33 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674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3.16e−9 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3.59 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3.57 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0.032 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120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1e2 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1.08 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1.07 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/>
                        <a:t>0.0097 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7799037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2D88E3D6-D3C0-32E8-DCBA-EF6462672831}"/>
              </a:ext>
            </a:extLst>
          </p:cNvPr>
          <p:cNvSpPr txBox="1"/>
          <p:nvPr/>
        </p:nvSpPr>
        <p:spPr>
          <a:xfrm>
            <a:off x="5584826" y="3008936"/>
            <a:ext cx="28067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b="1" dirty="0"/>
              <a:t>Observation</a:t>
            </a:r>
          </a:p>
          <a:p>
            <a:r>
              <a:rPr lang="en-US" altLang="zh-SG" dirty="0"/>
              <a:t>Z6: </a:t>
            </a:r>
            <a:r>
              <a:rPr lang="en-US" altLang="zh-SG" dirty="0" err="1"/>
              <a:t>kΩ</a:t>
            </a:r>
            <a:r>
              <a:rPr lang="en-US" altLang="zh-SG" dirty="0"/>
              <a:t> → 1 Ω</a:t>
            </a:r>
          </a:p>
          <a:p>
            <a:r>
              <a:rPr lang="en-US" altLang="zh-SG" dirty="0"/>
              <a:t>Z5: 33 Ω → 0.01 Ω</a:t>
            </a:r>
          </a:p>
          <a:p>
            <a:r>
              <a:rPr lang="en-US" altLang="zh-SG" dirty="0"/>
              <a:t>→ Cad is now fully effective locally</a:t>
            </a:r>
            <a:endParaRPr lang="zh-SG" altLang="en-US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D193116-3E65-979D-58EC-E4D756D0D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351073"/>
              </p:ext>
            </p:extLst>
          </p:nvPr>
        </p:nvGraphicFramePr>
        <p:xfrm>
          <a:off x="838200" y="4592949"/>
          <a:ext cx="4591052" cy="14630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996950">
                  <a:extLst>
                    <a:ext uri="{9D8B030D-6E8A-4147-A177-3AD203B41FA5}">
                      <a16:colId xmlns:a16="http://schemas.microsoft.com/office/drawing/2014/main" val="2469857988"/>
                    </a:ext>
                  </a:extLst>
                </a:gridCol>
                <a:gridCol w="3594102">
                  <a:extLst>
                    <a:ext uri="{9D8B030D-6E8A-4147-A177-3AD203B41FA5}">
                      <a16:colId xmlns:a16="http://schemas.microsoft.com/office/drawing/2014/main" val="26989841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Magnitude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1657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|Z1|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4.14 kΩ → 0.5·Z1 ≈ 2.07 kΩ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007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|Z2|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37.38 Ω → 0.5·Z2 ≈ 18.7 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5376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|Z4|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/>
                        <a:t>≈ 37 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31604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42DF428-A3A3-5B21-103B-AE18D3A109C8}"/>
                  </a:ext>
                </a:extLst>
              </p:cNvPr>
              <p:cNvSpPr txBox="1"/>
              <p:nvPr/>
            </p:nvSpPr>
            <p:spPr>
              <a:xfrm>
                <a:off x="838200" y="6121962"/>
                <a:ext cx="6096000" cy="666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SG" b="1" dirty="0"/>
                  <a:t>Structure</a:t>
                </a:r>
                <a:endParaRPr lang="en-US" altLang="zh-SG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S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SG" altLang="ar-A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SG" b="0" i="1">
                              <a:latin typeface="Cambria Math" panose="02040503050406030204" pitchFamily="18" charset="0"/>
                            </a:rPr>
                            <m:t>total</m:t>
                          </m:r>
                        </m:sub>
                      </m:sSub>
                      <m:r>
                        <a:rPr lang="ar-AE" altLang="zh-SG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altLang="zh-SG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SG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SG" altLang="ar-AE" b="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ar-AE" altLang="zh-SG" b="0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5</m:t>
                          </m:r>
                          <m:sSub>
                            <m:sSubPr>
                              <m:ctrlPr>
                                <a:rPr lang="ar-AE" altLang="zh-SG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SG" altLang="ar-AE" b="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ar-AE" altLang="zh-SG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altLang="zh-SG" b="0" i="0">
                          <a:latin typeface="Cambria Math" panose="02040503050406030204" pitchFamily="18" charset="0"/>
                        </a:rPr>
                        <m:t>∥</m:t>
                      </m:r>
                      <m:d>
                        <m:dPr>
                          <m:ctrlPr>
                            <a:rPr lang="ar-AE" altLang="zh-SG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SG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SG" altLang="ar-AE" b="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ar-AE" altLang="zh-SG" b="0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5</m:t>
                          </m:r>
                          <m:sSub>
                            <m:sSubPr>
                              <m:ctrlPr>
                                <a:rPr lang="ar-AE" altLang="zh-SG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SG" altLang="ar-AE" b="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ar-AE" altLang="zh-SG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altLang="zh-SG" b="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SG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SG" altLang="ar-AE" b="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ar-AE" altLang="zh-SG" b="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42DF428-A3A3-5B21-103B-AE18D3A10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121962"/>
                <a:ext cx="6096000" cy="666080"/>
              </a:xfrm>
              <a:prstGeom prst="rect">
                <a:avLst/>
              </a:prstGeom>
              <a:blipFill>
                <a:blip r:embed="rId4"/>
                <a:stretch>
                  <a:fillRect l="-900" t="-4545" b="-4545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8FD4C9F0-1D14-DF1C-51B3-DB97941FAACD}"/>
              </a:ext>
            </a:extLst>
          </p:cNvPr>
          <p:cNvSpPr txBox="1"/>
          <p:nvPr/>
        </p:nvSpPr>
        <p:spPr>
          <a:xfrm>
            <a:off x="5584826" y="4696805"/>
            <a:ext cx="29876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SG" b="1" dirty="0"/>
              <a:t>Dominance</a:t>
            </a:r>
            <a:endParaRPr lang="en-US" altLang="zh-S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SG" dirty="0"/>
              <a:t>Left branch always k</a:t>
            </a:r>
            <a:r>
              <a:rPr lang="el-GR" altLang="zh-SG" dirty="0"/>
              <a:t>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SG" dirty="0"/>
              <a:t>Right branch always ≈ 18.7 </a:t>
            </a:r>
            <a:r>
              <a:rPr lang="el-GR" altLang="zh-SG" dirty="0"/>
              <a:t>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SG" dirty="0"/>
              <a:t>Z4 ≈ 37 </a:t>
            </a:r>
            <a:r>
              <a:rPr lang="el-GR" altLang="zh-SG" dirty="0"/>
              <a:t>Ω (</a:t>
            </a:r>
            <a:r>
              <a:rPr lang="en-US" altLang="zh-SG" dirty="0"/>
              <a:t>stable)</a:t>
            </a:r>
          </a:p>
        </p:txBody>
      </p:sp>
    </p:spTree>
    <p:extLst>
      <p:ext uri="{BB962C8B-B14F-4D97-AF65-F5344CB8AC3E}">
        <p14:creationId xmlns:p14="http://schemas.microsoft.com/office/powerpoint/2010/main" val="4139838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2B8923-51E3-4B18-6884-6CCD27E5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"/>
            <a:ext cx="10515600" cy="1325563"/>
          </a:xfrm>
        </p:spPr>
        <p:txBody>
          <a:bodyPr/>
          <a:lstStyle/>
          <a:p>
            <a:r>
              <a:rPr lang="en-US" altLang="zh-SG" dirty="0"/>
              <a:t>Structural Limitation: Why Cad / Lad Cannot Fix UHF Behavior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CF23FB-E319-D106-8503-3003C6EA5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1112500" cy="4937125"/>
          </a:xfrm>
        </p:spPr>
        <p:txBody>
          <a:bodyPr>
            <a:noAutofit/>
          </a:bodyPr>
          <a:lstStyle/>
          <a:p>
            <a:r>
              <a:rPr lang="en-US" altLang="zh-SG" sz="1800" b="1" dirty="0"/>
              <a:t>Key Conclusion</a:t>
            </a:r>
            <a:endParaRPr lang="en-US" altLang="zh-SG" sz="1800" dirty="0"/>
          </a:p>
          <a:p>
            <a:r>
              <a:rPr lang="en-US" altLang="zh-SG" sz="1800" dirty="0"/>
              <a:t>Even when the added element (Cad or Lad) causes </a:t>
            </a:r>
            <a:r>
              <a:rPr lang="en-US" altLang="zh-SG" sz="1800" b="1" dirty="0"/>
              <a:t>orders-of-magnitude changes</a:t>
            </a:r>
            <a:r>
              <a:rPr lang="en-US" altLang="zh-SG" sz="1800" dirty="0"/>
              <a:t> in the local branches (</a:t>
            </a:r>
            <a:r>
              <a:rPr lang="en-US" altLang="zh-SG" sz="1800" b="1" dirty="0"/>
              <a:t>Z6 and Z5</a:t>
            </a:r>
            <a:r>
              <a:rPr lang="en-US" altLang="zh-SG" sz="1800" dirty="0"/>
              <a:t>), the </a:t>
            </a:r>
            <a:r>
              <a:rPr lang="en-US" altLang="zh-SG" sz="1800" b="1" dirty="0"/>
              <a:t>total impedance remains almost unchanged</a:t>
            </a:r>
            <a:r>
              <a:rPr lang="en-US" altLang="zh-SG" sz="1800" dirty="0"/>
              <a:t>.</a:t>
            </a:r>
          </a:p>
          <a:p>
            <a:r>
              <a:rPr lang="en-US" altLang="zh-SG" sz="1800" dirty="0"/>
              <a:t>This is because their influence is </a:t>
            </a:r>
            <a:r>
              <a:rPr lang="en-US" altLang="zh-SG" sz="1800" b="1" dirty="0"/>
              <a:t>numerically buried</a:t>
            </a:r>
            <a:r>
              <a:rPr lang="en-US" altLang="zh-SG" sz="1800" dirty="0"/>
              <a:t> by three dominant terms: </a:t>
            </a:r>
            <a:r>
              <a:rPr lang="en-US" altLang="zh-SG" sz="1800" b="1" dirty="0"/>
              <a:t>0.5·Z1 ≈ 2.07 </a:t>
            </a:r>
            <a:r>
              <a:rPr lang="en-US" altLang="zh-SG" sz="1800" b="1" dirty="0" err="1"/>
              <a:t>kΩ</a:t>
            </a:r>
            <a:r>
              <a:rPr lang="en-US" altLang="zh-SG" sz="1800" dirty="0"/>
              <a:t>, </a:t>
            </a:r>
            <a:r>
              <a:rPr lang="en-US" altLang="zh-SG" sz="1800" b="1" dirty="0"/>
              <a:t>0.5·Z2 ≈ 18.7 Ω</a:t>
            </a:r>
            <a:r>
              <a:rPr lang="en-US" altLang="zh-SG" sz="1800" dirty="0"/>
              <a:t>, </a:t>
            </a:r>
            <a:r>
              <a:rPr lang="en-US" altLang="zh-SG" sz="1800" b="1" dirty="0"/>
              <a:t>Z4 ≈ 37 Ω</a:t>
            </a:r>
            <a:endParaRPr lang="en-US" altLang="zh-SG" sz="1800" dirty="0"/>
          </a:p>
          <a:p>
            <a:r>
              <a:rPr lang="en-US" altLang="zh-SG" sz="1800" dirty="0"/>
              <a:t>These three terms lock the global impedance in the </a:t>
            </a:r>
            <a:r>
              <a:rPr lang="en-US" altLang="zh-SG" sz="1800" b="1" dirty="0"/>
              <a:t>tens-of-ohms range</a:t>
            </a:r>
            <a:r>
              <a:rPr lang="en-US" altLang="zh-SG" sz="1800" dirty="0"/>
              <a:t>, preventing any effective inductive–capacitive transition at 10⁷–10⁸ Hz.</a:t>
            </a:r>
          </a:p>
          <a:p>
            <a:r>
              <a:rPr lang="en-US" altLang="zh-SG" sz="1800" b="1" dirty="0"/>
              <a:t>Structural Interpretation</a:t>
            </a:r>
            <a:endParaRPr lang="en-US" altLang="zh-SG" sz="1800" dirty="0"/>
          </a:p>
          <a:p>
            <a:r>
              <a:rPr lang="en-US" altLang="zh-SG" sz="1800" dirty="0"/>
              <a:t>The current topology is </a:t>
            </a:r>
            <a:r>
              <a:rPr lang="en-US" altLang="zh-SG" sz="1800" b="1" dirty="0"/>
              <a:t>structurally stiff</a:t>
            </a:r>
            <a:r>
              <a:rPr lang="en-US" altLang="zh-SG" sz="1800" dirty="0"/>
              <a:t>: Z6 is always added to a </a:t>
            </a:r>
            <a:r>
              <a:rPr lang="en-US" altLang="zh-SG" sz="1800" b="1" dirty="0" err="1"/>
              <a:t>kΩ</a:t>
            </a:r>
            <a:r>
              <a:rPr lang="en-US" altLang="zh-SG" sz="1800" b="1" dirty="0"/>
              <a:t>-level</a:t>
            </a:r>
            <a:r>
              <a:rPr lang="en-US" altLang="zh-SG" sz="1800" dirty="0"/>
              <a:t> term (0.5·Z1); Z5 is always added to a </a:t>
            </a:r>
            <a:r>
              <a:rPr lang="en-US" altLang="zh-SG" sz="1800" b="1" dirty="0"/>
              <a:t>tens-of-ohms</a:t>
            </a:r>
            <a:r>
              <a:rPr lang="en-US" altLang="zh-SG" sz="1800" dirty="0"/>
              <a:t> term (0.5·Z2)</a:t>
            </a:r>
          </a:p>
          <a:p>
            <a:r>
              <a:rPr lang="en-US" altLang="zh-SG" sz="1800" dirty="0"/>
              <a:t>The series arm </a:t>
            </a:r>
            <a:r>
              <a:rPr lang="en-US" altLang="zh-SG" sz="1800" b="1" dirty="0"/>
              <a:t>Z4</a:t>
            </a:r>
            <a:r>
              <a:rPr lang="en-US" altLang="zh-SG" sz="1800" dirty="0"/>
              <a:t> is itself a stable, dominant branch</a:t>
            </a:r>
          </a:p>
          <a:p>
            <a:r>
              <a:rPr lang="en-US" altLang="zh-SG" sz="1800" dirty="0"/>
              <a:t>Therefore, even dramatic changes in Z6 or Z5 </a:t>
            </a:r>
            <a:r>
              <a:rPr lang="en-US" altLang="zh-SG" sz="1800" b="1" dirty="0"/>
              <a:t>cannot compete numerically</a:t>
            </a:r>
            <a:r>
              <a:rPr lang="en-US" altLang="zh-SG" sz="1800" dirty="0"/>
              <a:t>.</a:t>
            </a:r>
          </a:p>
          <a:p>
            <a:r>
              <a:rPr lang="en-US" altLang="zh-SG" sz="1800" b="1" dirty="0"/>
              <a:t>Additional Observation</a:t>
            </a:r>
            <a:endParaRPr lang="en-US" altLang="zh-SG" sz="1800" dirty="0"/>
          </a:p>
          <a:p>
            <a:r>
              <a:rPr lang="en-US" altLang="zh-SG" sz="1800" dirty="0"/>
              <a:t>Replacing </a:t>
            </a:r>
            <a:r>
              <a:rPr lang="en-US" altLang="zh-SG" sz="1800" b="1" dirty="0"/>
              <a:t>Cad with Lad</a:t>
            </a:r>
            <a:r>
              <a:rPr lang="en-US" altLang="zh-SG" sz="1800" dirty="0"/>
              <a:t> leads to the </a:t>
            </a:r>
            <a:r>
              <a:rPr lang="en-US" altLang="zh-SG" sz="1800" b="1" dirty="0"/>
              <a:t>same outcome</a:t>
            </a:r>
            <a:r>
              <a:rPr lang="en-US" altLang="zh-SG" sz="1800" dirty="0"/>
              <a:t>: Z6 and Z5 still vary strongly, but their effects are again </a:t>
            </a:r>
            <a:r>
              <a:rPr lang="en-US" altLang="zh-SG" sz="1800" b="1" dirty="0"/>
              <a:t>completely masked</a:t>
            </a:r>
            <a:r>
              <a:rPr lang="en-US" altLang="zh-SG" sz="1800" dirty="0"/>
              <a:t> by</a:t>
            </a:r>
            <a:br>
              <a:rPr lang="en-US" altLang="zh-SG" sz="1800" dirty="0"/>
            </a:br>
            <a:r>
              <a:rPr lang="en-US" altLang="zh-SG" sz="1800" dirty="0"/>
              <a:t>0.5·Z1, 0.5·Z2, and Z4.</a:t>
            </a:r>
          </a:p>
          <a:p>
            <a:endParaRPr lang="en-US" altLang="zh-SG" sz="1800" dirty="0"/>
          </a:p>
        </p:txBody>
      </p:sp>
    </p:spTree>
    <p:extLst>
      <p:ext uri="{BB962C8B-B14F-4D97-AF65-F5344CB8AC3E}">
        <p14:creationId xmlns:p14="http://schemas.microsoft.com/office/powerpoint/2010/main" val="211179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20E86F-8A24-3F85-EBBB-071864913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Analysis of the variation trend of each component of impedance</a:t>
            </a:r>
            <a:endParaRPr lang="zh-SG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424709F-0475-45DA-609C-6894F8DBF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" y="2246594"/>
            <a:ext cx="6000000" cy="3600000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272EFCC-BE56-56BD-1F9D-2C0ECA19A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46594"/>
            <a:ext cx="60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483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BE9C1-0D0B-CE92-8102-538D72E96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Why Tuning Z2 and Z4 Cannot Fix HF Phase (10–100 MHz)</a:t>
            </a:r>
            <a:endParaRPr lang="zh-SG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8AD770AC-9C71-0C98-12B5-38DCFAB138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350" y="4166994"/>
            <a:ext cx="4320000" cy="2592000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896AE05-D56A-A2C1-AF0B-1BF7E6196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320000" cy="2592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78977CC-CFCB-E958-4D3E-CECB87FC07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350" y="1690688"/>
            <a:ext cx="4320000" cy="2592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1EB020E-F15D-FE4F-53CB-3ADA6D3FD8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66994"/>
            <a:ext cx="4320000" cy="25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837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B4793-345C-4F05-1E75-452FCE8B8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8F05CC-C7EA-E6AD-8DD7-A3739FEC1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Why Tuning Z2 and Z4 Cannot Fix HF Phase (10–100 MHz)</a:t>
            </a:r>
            <a:endParaRPr lang="zh-SG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B2AE0C-F6FB-7E80-952A-86DB0AE56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13350" cy="4924426"/>
          </a:xfrm>
        </p:spPr>
        <p:txBody>
          <a:bodyPr>
            <a:normAutofit fontScale="77500" lnSpcReduction="20000"/>
          </a:bodyPr>
          <a:lstStyle/>
          <a:p>
            <a:r>
              <a:rPr lang="en-US" altLang="zh-SG" b="1" dirty="0"/>
              <a:t>Observation</a:t>
            </a:r>
            <a:endParaRPr lang="en-US" altLang="zh-SG" dirty="0"/>
          </a:p>
          <a:p>
            <a:r>
              <a:rPr lang="en-US" altLang="zh-SG" dirty="0"/>
              <a:t>Z2 and Z4 were independently scanned</a:t>
            </a:r>
            <a:br>
              <a:rPr lang="en-US" altLang="zh-SG" dirty="0"/>
            </a:br>
            <a:r>
              <a:rPr lang="en-US" altLang="zh-SG" dirty="0"/>
              <a:t>(real and imaginary parts, wide range)</a:t>
            </a:r>
          </a:p>
          <a:p>
            <a:r>
              <a:rPr lang="en-US" altLang="zh-SG" dirty="0"/>
              <a:t>Only the </a:t>
            </a:r>
            <a:r>
              <a:rPr lang="en-US" altLang="zh-SG" b="1" dirty="0"/>
              <a:t>phase response</a:t>
            </a:r>
            <a:r>
              <a:rPr lang="en-US" altLang="zh-SG" dirty="0"/>
              <a:t> was evaluated</a:t>
            </a:r>
          </a:p>
          <a:p>
            <a:r>
              <a:rPr lang="en-US" altLang="zh-SG" dirty="0"/>
              <a:t>Result:</a:t>
            </a:r>
          </a:p>
          <a:p>
            <a:pPr lvl="1"/>
            <a:r>
              <a:rPr lang="en-US" altLang="zh-SG" dirty="0"/>
              <a:t>Phase remains </a:t>
            </a:r>
            <a:r>
              <a:rPr lang="en-US" altLang="zh-SG" b="1" dirty="0"/>
              <a:t>capacitive</a:t>
            </a:r>
            <a:endParaRPr lang="en-US" altLang="zh-SG" dirty="0"/>
          </a:p>
          <a:p>
            <a:pPr lvl="1"/>
            <a:r>
              <a:rPr lang="en-US" altLang="zh-SG" dirty="0"/>
              <a:t>Or at best approaches </a:t>
            </a:r>
            <a:r>
              <a:rPr lang="en-US" altLang="zh-SG" b="1" dirty="0"/>
              <a:t>0°</a:t>
            </a:r>
            <a:endParaRPr lang="en-US" altLang="zh-SG" dirty="0"/>
          </a:p>
          <a:p>
            <a:pPr lvl="1"/>
            <a:r>
              <a:rPr lang="en-US" altLang="zh-SG" dirty="0"/>
              <a:t>Never becomes </a:t>
            </a:r>
            <a:r>
              <a:rPr lang="en-US" altLang="zh-SG" b="1" dirty="0"/>
              <a:t>inductive</a:t>
            </a:r>
            <a:r>
              <a:rPr lang="en-US" altLang="zh-SG" dirty="0"/>
              <a:t>, unlike experiments</a:t>
            </a:r>
          </a:p>
          <a:p>
            <a:r>
              <a:rPr lang="en-US" altLang="zh-SG" b="1" dirty="0"/>
              <a:t>Conclusion</a:t>
            </a:r>
            <a:endParaRPr lang="en-US" altLang="zh-SG" dirty="0"/>
          </a:p>
          <a:p>
            <a:r>
              <a:rPr lang="en-US" altLang="zh-SG" dirty="0"/>
              <a:t>In the 10–100 MHz range, </a:t>
            </a:r>
            <a:r>
              <a:rPr lang="en-US" altLang="zh-SG" b="1" dirty="0"/>
              <a:t>Z2 and Z4 are no longer dominant</a:t>
            </a:r>
            <a:endParaRPr lang="en-US" altLang="zh-SG" dirty="0"/>
          </a:p>
          <a:p>
            <a:r>
              <a:rPr lang="en-US" altLang="zh-SG" dirty="0"/>
              <a:t>They cannot control the port impedance phase</a:t>
            </a:r>
            <a:br>
              <a:rPr lang="en-US" altLang="zh-SG" dirty="0"/>
            </a:br>
            <a:endParaRPr lang="en-US" altLang="zh-SG" dirty="0"/>
          </a:p>
          <a:p>
            <a:endParaRPr lang="zh-SG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47E4C93-EF89-CCB5-8783-59754D4C42B7}"/>
                  </a:ext>
                </a:extLst>
              </p:cNvPr>
              <p:cNvSpPr txBox="1"/>
              <p:nvPr/>
            </p:nvSpPr>
            <p:spPr>
              <a:xfrm>
                <a:off x="6140452" y="1825625"/>
                <a:ext cx="5213348" cy="42218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SG" sz="2000" b="1" dirty="0"/>
                  <a:t>Physical Reason</a:t>
                </a:r>
                <a:endParaRPr lang="en-US" altLang="zh-SG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SG" sz="2000" dirty="0"/>
                  <a:t>At high frequency, the circuit is dominated by the </a:t>
                </a:r>
                <a:r>
                  <a:rPr lang="en-US" altLang="zh-SG" sz="2000" b="1" dirty="0"/>
                  <a:t>stator-to-ground capacitive path</a:t>
                </a:r>
                <a:endParaRPr lang="en-US" altLang="zh-SG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SG" sz="2000" dirty="0"/>
                  <a:t>Its impedance decreases rapidly: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SG" sz="200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altLang="zh-S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SG" altLang="ar-AE" sz="20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zh-SG" altLang="ar-AE" sz="20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ar-AE" altLang="zh-SG" sz="2000" i="0">
                        <a:latin typeface="Cambria Math" panose="02040503050406030204" pitchFamily="18" charset="0"/>
                      </a:rPr>
                      <m:t>∣∝</m:t>
                    </m:r>
                    <m:f>
                      <m:fPr>
                        <m:ctrlPr>
                          <a:rPr lang="ar-AE" altLang="zh-SG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altLang="zh-SG" sz="20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SG" altLang="ar-AE" sz="2000" i="1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endParaRPr lang="ar-AE" altLang="zh-SG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SG" sz="2000" dirty="0"/>
                  <a:t>This forms an almost </a:t>
                </a:r>
                <a:r>
                  <a:rPr lang="en-US" altLang="zh-SG" sz="2000" b="1" dirty="0"/>
                  <a:t>short-circuit HF channel</a:t>
                </a:r>
                <a:endParaRPr lang="en-US" altLang="zh-SG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SG" sz="2000" b="1" dirty="0"/>
                  <a:t>Implication</a:t>
                </a:r>
                <a:endParaRPr lang="en-US" altLang="zh-SG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SG" sz="2000" dirty="0"/>
                  <a:t>Z2 and Z4 vary slowly and stay bounded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SG" sz="2000" dirty="0"/>
                  <a:t>Their effect is negligible compared to the capacitive path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SG" sz="2000" dirty="0"/>
                  <a:t>They only shift curves in </a:t>
                </a:r>
                <a:r>
                  <a:rPr lang="en-US" altLang="zh-SG" sz="2000" b="1" dirty="0"/>
                  <a:t>mid-frequency (10⁵–10⁷ Hz)</a:t>
                </a:r>
                <a:endParaRPr lang="en-US" altLang="zh-SG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SG" sz="2000" dirty="0"/>
                  <a:t>They </a:t>
                </a:r>
                <a:r>
                  <a:rPr lang="en-US" altLang="zh-SG" sz="2000" b="1" dirty="0"/>
                  <a:t>cannot change the HF phase sign</a:t>
                </a:r>
                <a:endParaRPr lang="en-US" altLang="zh-SG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47E4C93-EF89-CCB5-8783-59754D4C4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452" y="1825625"/>
                <a:ext cx="5213348" cy="4221861"/>
              </a:xfrm>
              <a:prstGeom prst="rect">
                <a:avLst/>
              </a:prstGeom>
              <a:blipFill>
                <a:blip r:embed="rId2"/>
                <a:stretch>
                  <a:fillRect l="-1051" t="-722" r="-935" b="-1587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7946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FA021E-B635-8432-DCED-368581BD6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Why Small Parasitic Inductance Is Required at High Frequency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DFC755-7154-66E6-8E2C-C5A1821A8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213351" cy="5032375"/>
          </a:xfrm>
        </p:spPr>
        <p:txBody>
          <a:bodyPr>
            <a:normAutofit fontScale="70000" lnSpcReduction="20000"/>
          </a:bodyPr>
          <a:lstStyle/>
          <a:p>
            <a:r>
              <a:rPr lang="en-US" altLang="zh-SG" b="1" dirty="0"/>
              <a:t>Experimental Evidence</a:t>
            </a:r>
            <a:endParaRPr lang="en-US" altLang="zh-SG" dirty="0"/>
          </a:p>
          <a:p>
            <a:r>
              <a:rPr lang="en-US" altLang="zh-SG" dirty="0"/>
              <a:t>Phase turns from </a:t>
            </a:r>
            <a:r>
              <a:rPr lang="en-US" altLang="zh-SG" b="1" dirty="0"/>
              <a:t>capacitive → inductive</a:t>
            </a:r>
            <a:endParaRPr lang="en-US" altLang="zh-SG" dirty="0"/>
          </a:p>
          <a:p>
            <a:r>
              <a:rPr lang="en-US" altLang="zh-SG" dirty="0"/>
              <a:t>Strong oscillations appear in </a:t>
            </a:r>
            <a:r>
              <a:rPr lang="en-US" altLang="zh-SG" b="1" dirty="0"/>
              <a:t>10–100 MHz</a:t>
            </a:r>
            <a:endParaRPr lang="en-US" altLang="zh-SG" dirty="0"/>
          </a:p>
          <a:p>
            <a:r>
              <a:rPr lang="en-US" altLang="zh-SG" dirty="0"/>
              <a:t>Typical of </a:t>
            </a:r>
            <a:r>
              <a:rPr lang="en-US" altLang="zh-SG" b="1" dirty="0"/>
              <a:t>parasitic inductance + distributed effects</a:t>
            </a:r>
            <a:endParaRPr lang="en-US" altLang="zh-SG" dirty="0"/>
          </a:p>
          <a:p>
            <a:r>
              <a:rPr lang="en-US" altLang="zh-SG" b="1" dirty="0"/>
              <a:t>Order-of-Magnitude Argument</a:t>
            </a:r>
            <a:endParaRPr lang="en-US" altLang="zh-SG" dirty="0"/>
          </a:p>
          <a:p>
            <a:r>
              <a:rPr lang="en-US" altLang="zh-SG" dirty="0"/>
              <a:t>Dominant stator–ground capacitance: </a:t>
            </a:r>
            <a:r>
              <a:rPr lang="en-US" altLang="zh-SG" b="1" dirty="0" err="1"/>
              <a:t>nF</a:t>
            </a:r>
            <a:r>
              <a:rPr lang="en-US" altLang="zh-SG" b="1" dirty="0"/>
              <a:t> level</a:t>
            </a:r>
            <a:endParaRPr lang="en-US" altLang="zh-SG" dirty="0"/>
          </a:p>
          <a:p>
            <a:r>
              <a:rPr lang="en-US" altLang="zh-SG" dirty="0"/>
              <a:t>Only </a:t>
            </a:r>
            <a:r>
              <a:rPr lang="en-US" altLang="zh-SG" b="1" dirty="0"/>
              <a:t>tens of </a:t>
            </a:r>
            <a:r>
              <a:rPr lang="en-US" altLang="zh-SG" b="1" dirty="0" err="1"/>
              <a:t>nH</a:t>
            </a:r>
            <a:r>
              <a:rPr lang="en-US" altLang="zh-SG" dirty="0"/>
              <a:t> series inductance is enough</a:t>
            </a:r>
            <a:br>
              <a:rPr lang="en-US" altLang="zh-SG" dirty="0"/>
            </a:br>
            <a:r>
              <a:rPr lang="en-US" altLang="zh-SG" dirty="0"/>
              <a:t>to cause phase reversal in 10–100 MHz</a:t>
            </a:r>
          </a:p>
          <a:p>
            <a:endParaRPr lang="en-US" altLang="zh-SG" dirty="0"/>
          </a:p>
          <a:p>
            <a:r>
              <a:rPr lang="en-US" altLang="zh-SG" b="1" dirty="0"/>
              <a:t>Possible Sources</a:t>
            </a:r>
            <a:endParaRPr lang="en-US" altLang="zh-SG" dirty="0"/>
          </a:p>
          <a:p>
            <a:r>
              <a:rPr lang="en-US" altLang="zh-SG" dirty="0"/>
              <a:t>Measurement leads</a:t>
            </a:r>
          </a:p>
          <a:p>
            <a:r>
              <a:rPr lang="en-US" altLang="zh-SG" dirty="0"/>
              <a:t>Ground return loop geometry</a:t>
            </a:r>
          </a:p>
          <a:p>
            <a:r>
              <a:rPr lang="en-US" altLang="zh-SG" dirty="0"/>
              <a:t>Frame-to-ground path</a:t>
            </a:r>
          </a:p>
          <a:p>
            <a:r>
              <a:rPr lang="en-US" altLang="zh-SG" dirty="0"/>
              <a:t>ESL of the capacitance itself</a:t>
            </a:r>
          </a:p>
          <a:p>
            <a:endParaRPr lang="zh-SG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6FCD16-3460-1A4E-44CF-72780DC9C3AF}"/>
              </a:ext>
            </a:extLst>
          </p:cNvPr>
          <p:cNvSpPr txBox="1"/>
          <p:nvPr/>
        </p:nvSpPr>
        <p:spPr>
          <a:xfrm>
            <a:off x="6140450" y="1690688"/>
            <a:ext cx="4699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SG" sz="2000" b="1" dirty="0"/>
              <a:t>Key Conclusion</a:t>
            </a:r>
            <a:endParaRPr lang="en-US" altLang="zh-SG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SG" sz="2000" dirty="0"/>
              <a:t>Internal lumped branches (Z2, Z4)</a:t>
            </a:r>
            <a:br>
              <a:rPr lang="en-US" altLang="zh-SG" sz="2000" dirty="0"/>
            </a:br>
            <a:r>
              <a:rPr lang="en-US" altLang="zh-SG" sz="2000" b="1" dirty="0"/>
              <a:t>cannot explain the inductive HF phase</a:t>
            </a:r>
            <a:endParaRPr lang="en-US" altLang="zh-SG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SG" sz="2000" dirty="0"/>
              <a:t>The dominant source is likely the </a:t>
            </a:r>
            <a:r>
              <a:rPr lang="en-US" altLang="zh-SG" sz="2000" b="1" dirty="0"/>
              <a:t>measurement loop + grounding geometry</a:t>
            </a:r>
            <a:r>
              <a:rPr lang="en-US" altLang="zh-SG" sz="2000" dirty="0"/>
              <a:t>, not the motor internal model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SG" sz="2000" dirty="0"/>
          </a:p>
          <a:p>
            <a:pPr>
              <a:buNone/>
            </a:pPr>
            <a:r>
              <a:rPr lang="en-US" altLang="zh-SG" sz="2000" b="1" dirty="0"/>
              <a:t>Implication</a:t>
            </a:r>
            <a:endParaRPr lang="en-US" altLang="zh-SG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SG" sz="2000" dirty="0"/>
              <a:t>A </a:t>
            </a:r>
            <a:r>
              <a:rPr lang="en-US" altLang="zh-SG" sz="2000" b="1" dirty="0"/>
              <a:t>small series parasitic inductance</a:t>
            </a:r>
            <a:br>
              <a:rPr lang="en-US" altLang="zh-SG" sz="2000" dirty="0"/>
            </a:br>
            <a:r>
              <a:rPr lang="en-US" altLang="zh-SG" sz="2000" dirty="0"/>
              <a:t>must be added to the dominant capacitive path to reproduce the experimental behavior</a:t>
            </a:r>
          </a:p>
        </p:txBody>
      </p:sp>
    </p:spTree>
    <p:extLst>
      <p:ext uri="{BB962C8B-B14F-4D97-AF65-F5344CB8AC3E}">
        <p14:creationId xmlns:p14="http://schemas.microsoft.com/office/powerpoint/2010/main" val="130716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3B7018-3C23-7371-2493-43A54E863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Impedance curve after adding Small Parasitic Inductance</a:t>
            </a:r>
            <a:endParaRPr lang="zh-SG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E7F4918-E1C2-747D-5A9B-024EB4B33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00224"/>
            <a:ext cx="8640000" cy="4873501"/>
          </a:xfrm>
        </p:spPr>
      </p:pic>
    </p:spTree>
    <p:extLst>
      <p:ext uri="{BB962C8B-B14F-4D97-AF65-F5344CB8AC3E}">
        <p14:creationId xmlns:p14="http://schemas.microsoft.com/office/powerpoint/2010/main" val="3166090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189BE5-F4CC-5EDB-874B-64E418872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Impedance curve after adding Small Parasitic Inductance</a:t>
            </a:r>
            <a:endParaRPr lang="zh-SG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4AE7AAD-C139-8650-F50E-4B1E048ED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8640000" cy="4873500"/>
          </a:xfrm>
        </p:spPr>
      </p:pic>
    </p:spTree>
    <p:extLst>
      <p:ext uri="{BB962C8B-B14F-4D97-AF65-F5344CB8AC3E}">
        <p14:creationId xmlns:p14="http://schemas.microsoft.com/office/powerpoint/2010/main" val="3396037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02141-3218-A794-4FAC-6E30E86D0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Impedance curve after adding Small Parasitic Inductance</a:t>
            </a:r>
            <a:endParaRPr lang="zh-SG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85AF00B-5A4F-E18A-350A-F7ACBDD56E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19375"/>
            <a:ext cx="8640000" cy="4873500"/>
          </a:xfrm>
        </p:spPr>
      </p:pic>
    </p:spTree>
    <p:extLst>
      <p:ext uri="{BB962C8B-B14F-4D97-AF65-F5344CB8AC3E}">
        <p14:creationId xmlns:p14="http://schemas.microsoft.com/office/powerpoint/2010/main" val="4058786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5C14B3-569A-E72C-A2C5-6A4E0BDE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Impedance curve after adding Small Parasitic Inductance</a:t>
            </a:r>
            <a:endParaRPr lang="zh-SG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ECE147D-2197-DC93-927D-E30797101A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8640000" cy="4873500"/>
          </a:xfrm>
        </p:spPr>
      </p:pic>
    </p:spTree>
    <p:extLst>
      <p:ext uri="{BB962C8B-B14F-4D97-AF65-F5344CB8AC3E}">
        <p14:creationId xmlns:p14="http://schemas.microsoft.com/office/powerpoint/2010/main" val="3197867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EE3169-703B-E6DC-0348-F34BF6977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7325"/>
            <a:ext cx="10515600" cy="1325563"/>
          </a:xfrm>
        </p:spPr>
        <p:txBody>
          <a:bodyPr/>
          <a:lstStyle/>
          <a:p>
            <a:r>
              <a:rPr lang="en-US" altLang="zh-SG" dirty="0"/>
              <a:t>Problems with the universality of parameters</a:t>
            </a:r>
            <a:endParaRPr lang="zh-SG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2BAF774-3E85-67DC-CFBC-156DD474D9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27906"/>
            <a:ext cx="8640000" cy="5760001"/>
          </a:xfrm>
        </p:spPr>
      </p:pic>
    </p:spTree>
    <p:extLst>
      <p:ext uri="{BB962C8B-B14F-4D97-AF65-F5344CB8AC3E}">
        <p14:creationId xmlns:p14="http://schemas.microsoft.com/office/powerpoint/2010/main" val="3497589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05AF3-2E7F-BF0B-4FA8-429DA1520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59E4C5-EC32-9354-BC5A-2EDCFB3E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7325"/>
            <a:ext cx="10515600" cy="1325563"/>
          </a:xfrm>
        </p:spPr>
        <p:txBody>
          <a:bodyPr/>
          <a:lstStyle/>
          <a:p>
            <a:r>
              <a:rPr lang="en-US" altLang="zh-SG" dirty="0"/>
              <a:t>Problems with the universality of parameters</a:t>
            </a:r>
            <a:endParaRPr lang="zh-SG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CA14722E-004B-3A5A-ED40-6F0F036D0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23925"/>
            <a:ext cx="8640000" cy="5760001"/>
          </a:xfrm>
        </p:spPr>
      </p:pic>
    </p:spTree>
    <p:extLst>
      <p:ext uri="{BB962C8B-B14F-4D97-AF65-F5344CB8AC3E}">
        <p14:creationId xmlns:p14="http://schemas.microsoft.com/office/powerpoint/2010/main" val="1629446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B7EF8B-8E83-E80D-27B4-53892F2F7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992133-3657-F4CE-19B4-D2ECE8A44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第一个</a:t>
            </a:r>
            <a:r>
              <a:rPr lang="en-US" altLang="zh-CN" dirty="0"/>
              <a:t>: 10</a:t>
            </a:r>
            <a:r>
              <a:rPr lang="zh-CN" altLang="en-US" dirty="0"/>
              <a:t>兆以内 消融实验 和纯解析 对比 </a:t>
            </a:r>
            <a:endParaRPr lang="en-US" altLang="zh-CN" dirty="0"/>
          </a:p>
          <a:p>
            <a:r>
              <a:rPr lang="zh-CN" altLang="en-US" dirty="0"/>
              <a:t>第二个</a:t>
            </a:r>
            <a:r>
              <a:rPr lang="en-US" altLang="zh-CN" dirty="0"/>
              <a:t>: 100</a:t>
            </a:r>
            <a:r>
              <a:rPr lang="zh-CN" altLang="en-US" dirty="0"/>
              <a:t>兆 也是和</a:t>
            </a:r>
            <a:r>
              <a:rPr lang="en-US" altLang="zh-CN" dirty="0"/>
              <a:t>baseline</a:t>
            </a:r>
            <a:r>
              <a:rPr lang="zh-CN" altLang="en-US" dirty="0"/>
              <a:t>对比 我加了端口 终端 也要仅</a:t>
            </a:r>
            <a:r>
              <a:rPr lang="en-US" altLang="zh-CN" dirty="0"/>
              <a:t>ai</a:t>
            </a:r>
            <a:r>
              <a:rPr lang="zh-CN" altLang="en-US" dirty="0"/>
              <a:t>的 </a:t>
            </a:r>
            <a:endParaRPr lang="en-US" altLang="zh-CN" dirty="0"/>
          </a:p>
          <a:p>
            <a:r>
              <a:rPr lang="zh-CN" altLang="en-US" dirty="0"/>
              <a:t>第三个</a:t>
            </a:r>
            <a:r>
              <a:rPr lang="en-US" altLang="zh-CN" dirty="0"/>
              <a:t>: </a:t>
            </a:r>
            <a:r>
              <a:rPr lang="zh-CN" altLang="en-US" dirty="0"/>
              <a:t>和纯</a:t>
            </a:r>
            <a:r>
              <a:rPr lang="en-US" altLang="zh-CN" dirty="0"/>
              <a:t>ai</a:t>
            </a:r>
            <a:r>
              <a:rPr lang="zh-CN" altLang="en-US" dirty="0"/>
              <a:t>对比 </a:t>
            </a:r>
            <a:r>
              <a:rPr lang="en-US" altLang="zh-CN" dirty="0"/>
              <a:t>10</a:t>
            </a:r>
            <a:r>
              <a:rPr lang="zh-CN" altLang="en-US" dirty="0"/>
              <a:t>兆的时候 </a:t>
            </a:r>
            <a:r>
              <a:rPr lang="en-US" altLang="zh-CN" dirty="0" err="1"/>
              <a:t>mlp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ga </a:t>
            </a:r>
            <a:r>
              <a:rPr lang="zh-CN" altLang="en-US" dirty="0"/>
              <a:t>复现 </a:t>
            </a:r>
            <a:endParaRPr lang="en-US" altLang="zh-CN" dirty="0"/>
          </a:p>
          <a:p>
            <a:r>
              <a:rPr lang="zh-CN" altLang="en-US" dirty="0"/>
              <a:t>三种</a:t>
            </a:r>
            <a:r>
              <a:rPr lang="en-US" altLang="zh-CN" dirty="0"/>
              <a:t>baseline </a:t>
            </a:r>
            <a:r>
              <a:rPr lang="zh-CN" altLang="en-US" dirty="0"/>
              <a:t>两个</a:t>
            </a:r>
            <a:r>
              <a:rPr lang="en-US" altLang="zh-CN" dirty="0"/>
              <a:t>latest </a:t>
            </a:r>
          </a:p>
          <a:p>
            <a:r>
              <a:rPr lang="zh-CN" altLang="en-US" dirty="0"/>
              <a:t>第四个：每个参数动 </a:t>
            </a:r>
            <a:r>
              <a:rPr lang="en-US" altLang="zh-CN" dirty="0"/>
              <a:t>dm</a:t>
            </a:r>
            <a:r>
              <a:rPr lang="zh-CN" altLang="en-US" dirty="0"/>
              <a:t>和</a:t>
            </a:r>
            <a:r>
              <a:rPr lang="en-US" altLang="zh-CN" dirty="0"/>
              <a:t>cm </a:t>
            </a:r>
            <a:r>
              <a:rPr lang="zh-CN" altLang="en-US" dirty="0"/>
              <a:t>不要单相 看影响 </a:t>
            </a:r>
            <a:r>
              <a:rPr lang="en-US" altLang="zh-CN" dirty="0"/>
              <a:t>2(</a:t>
            </a:r>
            <a:r>
              <a:rPr lang="zh-CN" altLang="en-US" dirty="0"/>
              <a:t>端口</a:t>
            </a:r>
            <a:r>
              <a:rPr lang="en-US" altLang="zh-CN" dirty="0"/>
              <a:t>2)</a:t>
            </a:r>
            <a:r>
              <a:rPr lang="zh-CN" altLang="en-US" dirty="0"/>
              <a:t>短 三角形 共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2367693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1015</Words>
  <Application>Microsoft Office PowerPoint</Application>
  <PresentationFormat>宽屏</PresentationFormat>
  <Paragraphs>155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主题​​</vt:lpstr>
      <vt:lpstr>2026.1.27</vt:lpstr>
      <vt:lpstr>PowerPoint 演示文稿</vt:lpstr>
      <vt:lpstr>Attempts to Correct the 10⁷–10⁸ Hz Impedance Behavior</vt:lpstr>
      <vt:lpstr>Attempt 1: Cad in Parallel with Csf₀ (Neutral–GND) </vt:lpstr>
      <vt:lpstr>Attempt 2: Cad between Phases and Frame (A,B,C → GND)</vt:lpstr>
      <vt:lpstr>Structural Limitation: Why Cad / Lad Cannot Fix UHF Behavior</vt:lpstr>
      <vt:lpstr>Analysis of the variation trend of each component of impedance</vt:lpstr>
      <vt:lpstr>Why Tuning Z2 and Z4 Cannot Fix HF Phase (10–100 MHz)</vt:lpstr>
      <vt:lpstr>Why Tuning Z2 and Z4 Cannot Fix HF Phase (10–100 MHz)</vt:lpstr>
      <vt:lpstr>Why Small Parasitic Inductance Is Required at High Frequency</vt:lpstr>
      <vt:lpstr>Impedance curve after adding Small Parasitic Inductance</vt:lpstr>
      <vt:lpstr>Impedance curve after adding Small Parasitic Inductance</vt:lpstr>
      <vt:lpstr>Impedance curve after adding Small Parasitic Inductance</vt:lpstr>
      <vt:lpstr>Impedance curve after adding Small Parasitic Inductance</vt:lpstr>
      <vt:lpstr>Problems with the universality of parameters</vt:lpstr>
      <vt:lpstr>Problems with the universality of parameters</vt:lpstr>
      <vt:lpstr>add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Fengyifei Xu</dc:creator>
  <cp:lastModifiedBy>Fengyifei Xu</cp:lastModifiedBy>
  <cp:revision>3</cp:revision>
  <dcterms:created xsi:type="dcterms:W3CDTF">2026-01-27T03:47:45Z</dcterms:created>
  <dcterms:modified xsi:type="dcterms:W3CDTF">2026-03-03T14:45:01Z</dcterms:modified>
</cp:coreProperties>
</file>